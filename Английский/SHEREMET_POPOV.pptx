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89721-8797-4FCB-B4C5-53A093CC9CE2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B9F74-A07A-4F46-AD04-1EEDCDE2B8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060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1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83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66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38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44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28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69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84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0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79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03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18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80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26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24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97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07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2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18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8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537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02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13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19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95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1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06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9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719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886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9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Ver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7A0D4-581B-4B38-8C4E-8743AC4D4B7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53786-FC6A-4916-89D8-AFA52AE31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4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7666" y="228203"/>
            <a:ext cx="10477898" cy="700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83"/>
              </a:lnSpc>
            </a:pPr>
            <a:r>
              <a:rPr lang="en-US" sz="1500" b="1" dirty="0">
                <a:solidFill>
                  <a:srgbClr val="FFFFFF"/>
                </a:solidFill>
                <a:ea typeface="Syne Bold" pitchFamily="34" charset="-122"/>
                <a:cs typeface="Syne Bold" pitchFamily="34" charset="-120"/>
              </a:rPr>
              <a:t>Perm National Research Polytechnic University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826104" y="4991937"/>
            <a:ext cx="3266110" cy="1020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Presented by:</a:t>
            </a: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42" dirty="0" err="1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</a:rPr>
              <a:t>Sheremet</a:t>
            </a:r>
            <a:r>
              <a:rPr lang="en-US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</a:rPr>
              <a:t> Semen, </a:t>
            </a:r>
            <a:r>
              <a:rPr lang="ru-RU" sz="1542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</a:rPr>
              <a:t>РИС-25-2б</a:t>
            </a:r>
            <a:endParaRPr lang="en-US" sz="1542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955936" y="6127415"/>
            <a:ext cx="614271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00"/>
              </a:lnSpc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2026</a:t>
            </a:r>
            <a:endParaRPr lang="en-US" sz="15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27916" y="1699697"/>
            <a:ext cx="3336170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Foreign Language (</a:t>
            </a:r>
            <a:r>
              <a:rPr lang="en-US" sz="20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English)</a:t>
            </a:r>
            <a:endParaRPr lang="en-US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831574" y="2464010"/>
            <a:ext cx="68300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" dirty="0"/>
              <a:t> </a:t>
            </a:r>
            <a:r>
              <a:rPr lang="en-US" sz="3200" dirty="0">
                <a:solidFill>
                  <a:schemeClr val="bg1"/>
                </a:solidFill>
              </a:rPr>
              <a:t>Alexander Popov: The Inventor of Radio</a:t>
            </a:r>
            <a:endParaRPr lang="ru-RU" sz="3200" dirty="0">
              <a:solidFill>
                <a:schemeClr val="bg1"/>
              </a:solidFill>
              <a:latin typeface="+mj-lt"/>
              <a:ea typeface="Syne Bold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964" y="5912115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80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718046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Contents</a:t>
            </a:r>
            <a:endParaRPr lang="en-US" sz="3667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5911130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Прямоугольник 28"/>
          <p:cNvSpPr/>
          <p:nvPr/>
        </p:nvSpPr>
        <p:spPr>
          <a:xfrm>
            <a:off x="0" y="1617436"/>
            <a:ext cx="742989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Vocabulary </a:t>
            </a: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Biography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The </a:t>
            </a: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Path to </a:t>
            </a: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Invention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The </a:t>
            </a: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Day of </a:t>
            </a: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Radio</a:t>
            </a: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Practical </a:t>
            </a: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Applications in </a:t>
            </a: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History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Modern </a:t>
            </a: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Use and </a:t>
            </a: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Perspectives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spcBef>
                <a:spcPts val="1000"/>
              </a:spcBef>
              <a:spcAft>
                <a:spcPts val="1000"/>
              </a:spcAft>
              <a:buAutoNum type="arabicPeriod"/>
            </a:pPr>
            <a:r>
              <a:rPr lang="en-US" sz="3200" dirty="0" smtClean="0">
                <a:solidFill>
                  <a:schemeClr val="bg2">
                    <a:lumMod val="90000"/>
                  </a:schemeClr>
                </a:solidFill>
              </a:rPr>
              <a:t>Conclusion</a:t>
            </a:r>
            <a:endParaRPr lang="en-US" sz="3200" dirty="0">
              <a:solidFill>
                <a:schemeClr val="bg2">
                  <a:lumMod val="90000"/>
                </a:schemeClr>
              </a:solidFill>
              <a:latin typeface="Arimo" charset="0"/>
              <a:ea typeface="Arimo" charset="0"/>
              <a:cs typeface="Arimo" charset="0"/>
            </a:endParaRPr>
          </a:p>
        </p:txBody>
      </p:sp>
      <p:sp>
        <p:nvSpPr>
          <p:cNvPr id="30" name="AutoShape 4" descr="Майкл Фарадей – Скачать или заказать печать книг автора в интернет-магазине  Директмедиа"/>
          <p:cNvSpPr>
            <a:spLocks noChangeAspect="1" noChangeArrowheads="1"/>
          </p:cNvSpPr>
          <p:nvPr/>
        </p:nvSpPr>
        <p:spPr bwMode="auto">
          <a:xfrm>
            <a:off x="129646" y="-120386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81" y="571268"/>
            <a:ext cx="4521386" cy="581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4" y="566143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Vocabulary</a:t>
            </a:r>
            <a:endParaRPr lang="en-US" sz="2917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8104" y="1290836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697" y="1469430"/>
            <a:ext cx="1917700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dirty="0">
                <a:solidFill>
                  <a:schemeClr val="bg1"/>
                </a:solidFill>
              </a:rPr>
              <a:t>Electromagnetic waves</a:t>
            </a:r>
            <a:endParaRPr lang="en-US" sz="1458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6697" y="1780679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ɪˌlektrəʊmæɡˈnetɪk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ˈ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weɪvz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</a:t>
            </a:r>
            <a:r>
              <a:rPr lang="en-US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</a:t>
            </a:r>
            <a:r>
              <a:rPr lang="ru-RU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электромагнитные </a:t>
            </a:r>
            <a:r>
              <a:rPr lang="ru-RU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волны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59797" y="1290836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8392" y="1469430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 err="1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Hertzian</a:t>
            </a: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 waves</a:t>
            </a:r>
            <a:endParaRPr lang="en-US" sz="1458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38392" y="1780679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dirty="0">
                <a:solidFill>
                  <a:schemeClr val="bg1"/>
                </a:solidFill>
              </a:rPr>
              <a:t>/</a:t>
            </a:r>
            <a:r>
              <a:rPr lang="en-US" sz="1250" dirty="0"/>
              <a:t>ˈ</a:t>
            </a:r>
            <a:r>
              <a:rPr lang="en-US" sz="1250" dirty="0" err="1">
                <a:solidFill>
                  <a:schemeClr val="bg1"/>
                </a:solidFill>
              </a:rPr>
              <a:t>hɜːrtsiən</a:t>
            </a:r>
            <a:r>
              <a:rPr lang="en-US" sz="1250" dirty="0">
                <a:solidFill>
                  <a:schemeClr val="bg1"/>
                </a:solidFill>
              </a:rPr>
              <a:t> ˈ</a:t>
            </a:r>
            <a:r>
              <a:rPr lang="en-US" sz="1250" dirty="0" err="1">
                <a:solidFill>
                  <a:schemeClr val="bg1"/>
                </a:solidFill>
              </a:rPr>
              <a:t>weɪvz</a:t>
            </a:r>
            <a:r>
              <a:rPr lang="en-US" sz="1250" dirty="0">
                <a:solidFill>
                  <a:schemeClr val="bg1"/>
                </a:solidFill>
              </a:rPr>
              <a:t>/ — </a:t>
            </a:r>
            <a:r>
              <a:rPr lang="ru-RU" sz="1250" dirty="0">
                <a:solidFill>
                  <a:schemeClr val="bg1"/>
                </a:solidFill>
              </a:rPr>
              <a:t>волны Герца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98104" y="2316559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697" y="2495154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Coherer</a:t>
            </a:r>
            <a:endParaRPr lang="en-US" sz="1458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6697" y="2806402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00" dirty="0">
                <a:solidFill>
                  <a:srgbClr val="F9FAFB"/>
                </a:solidFill>
                <a:latin typeface="quote-cjk-patch"/>
              </a:rPr>
              <a:t>/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kəʊˈhɪərə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/ — </a:t>
            </a:r>
            <a:r>
              <a:rPr lang="ru-RU" sz="1400" dirty="0">
                <a:solidFill>
                  <a:srgbClr val="F9FAFB"/>
                </a:solidFill>
                <a:latin typeface="quote-cjk-patch"/>
              </a:rPr>
              <a:t>когерер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59798" y="2316559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8392" y="2495154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Wireless telegraphy</a:t>
            </a:r>
            <a:endParaRPr lang="en-US" sz="1458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8392" y="2806402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ru-RU" sz="1250" dirty="0">
                <a:solidFill>
                  <a:schemeClr val="bg1"/>
                </a:solidFill>
              </a:rPr>
              <a:t>/</a:t>
            </a:r>
            <a:r>
              <a:rPr lang="ru-RU" sz="1250" dirty="0"/>
              <a:t>ˈ</a:t>
            </a:r>
            <a:r>
              <a:rPr lang="ru-RU" sz="1250" dirty="0" err="1">
                <a:solidFill>
                  <a:schemeClr val="bg1"/>
                </a:solidFill>
              </a:rPr>
              <a:t>waɪəlɪs</a:t>
            </a:r>
            <a:r>
              <a:rPr lang="ru-RU" sz="1250" dirty="0">
                <a:solidFill>
                  <a:schemeClr val="bg1"/>
                </a:solidFill>
              </a:rPr>
              <a:t> </a:t>
            </a:r>
            <a:r>
              <a:rPr lang="ru-RU" sz="1250" dirty="0" err="1">
                <a:solidFill>
                  <a:schemeClr val="bg1"/>
                </a:solidFill>
              </a:rPr>
              <a:t>tɪˈleɡrəfi</a:t>
            </a:r>
            <a:r>
              <a:rPr lang="ru-RU" sz="1250" dirty="0">
                <a:solidFill>
                  <a:schemeClr val="bg1"/>
                </a:solidFill>
              </a:rPr>
              <a:t>/ — беспроводная телеграфия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8103" y="3403551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697" y="3520877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Antenna</a:t>
            </a:r>
            <a:endParaRPr lang="en-US" sz="1458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6697" y="3832126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ænˈtenə</a:t>
            </a:r>
            <a:r>
              <a:rPr lang="en-US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 — </a:t>
            </a:r>
            <a:r>
              <a:rPr lang="ru-RU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антенна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59798" y="3342283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8392" y="3520877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Spark-gap transmitter</a:t>
            </a:r>
            <a:endParaRPr lang="en-US" sz="1458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8392" y="3832126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/ˈ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spɑːk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ɡæp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trænzˈmɪtə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 — </a:t>
            </a:r>
            <a:r>
              <a:rPr lang="ru-RU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искровой передатчик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8103" y="4368006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697" y="4546600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Receiver</a:t>
            </a:r>
            <a:endParaRPr lang="en-US" sz="1458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6697" y="4857849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[/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rɪˈsiːvə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 — </a:t>
            </a:r>
            <a:r>
              <a:rPr lang="ru-RU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приёмник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59798" y="4368006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8392" y="4546600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Resonance</a:t>
            </a:r>
            <a:endParaRPr lang="en-US" sz="1458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38392" y="4857849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/ˈ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rezənəns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 — </a:t>
            </a:r>
            <a:r>
              <a:rPr lang="ru-RU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резонанс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8104" y="5393730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6697" y="5572324"/>
            <a:ext cx="1877418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Transmitter</a:t>
            </a:r>
            <a:endParaRPr lang="en-US" sz="1458" dirty="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6697" y="5883572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250" i="1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</a:t>
            </a:r>
            <a:r>
              <a:rPr lang="en-US" sz="1250" i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trænzˈmɪtə</a:t>
            </a: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 — </a:t>
            </a:r>
            <a:r>
              <a:rPr lang="ru-RU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передатчик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59798" y="5393730"/>
            <a:ext cx="5334099" cy="898128"/>
          </a:xfrm>
          <a:prstGeom prst="roundRect">
            <a:avLst>
              <a:gd name="adj" fmla="val 266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8392" y="5572324"/>
            <a:ext cx="1964233" cy="2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Morse code</a:t>
            </a:r>
            <a:endParaRPr lang="en-US" sz="1458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38392" y="5883572"/>
            <a:ext cx="49769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00" dirty="0">
                <a:solidFill>
                  <a:srgbClr val="F9FAFB"/>
                </a:solidFill>
                <a:latin typeface="quote-cjk-patch"/>
              </a:rPr>
              <a:t>/ˌ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mɔːs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 ˈ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kəʊd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/ — </a:t>
            </a:r>
            <a:r>
              <a:rPr lang="ru-RU" sz="1400" dirty="0">
                <a:solidFill>
                  <a:srgbClr val="F9FAFB"/>
                </a:solidFill>
                <a:latin typeface="quote-cjk-patch"/>
              </a:rPr>
              <a:t>азбука Морзе</a:t>
            </a:r>
            <a:endParaRPr lang="en-US" sz="125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833" y="6385057"/>
            <a:ext cx="2381250" cy="47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36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104" y="759619"/>
            <a:ext cx="5309493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Biography</a:t>
            </a:r>
            <a:endParaRPr lang="en-US" sz="2375" dirty="0">
              <a:latin typeface="+mj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98104" y="1267321"/>
            <a:ext cx="6223794" cy="1144588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</p:sp>
      <p:sp>
        <p:nvSpPr>
          <p:cNvPr id="7" name="Text 3"/>
          <p:cNvSpPr/>
          <p:nvPr/>
        </p:nvSpPr>
        <p:spPr>
          <a:xfrm>
            <a:off x="827683" y="1516290"/>
            <a:ext cx="152538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3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Early life</a:t>
            </a:r>
            <a:endParaRPr lang="en-US" sz="2333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827681" y="1964773"/>
            <a:ext cx="5964634" cy="171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500" dirty="0">
                <a:solidFill>
                  <a:schemeClr val="bg1"/>
                </a:solidFill>
              </a:rPr>
              <a:t>1859 – born in the Urals</a:t>
            </a:r>
          </a:p>
        </p:txBody>
      </p:sp>
      <p:sp>
        <p:nvSpPr>
          <p:cNvPr id="9" name="Shape 5"/>
          <p:cNvSpPr/>
          <p:nvPr/>
        </p:nvSpPr>
        <p:spPr>
          <a:xfrm>
            <a:off x="698104" y="2496145"/>
            <a:ext cx="6223794" cy="1144588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</p:sp>
      <p:sp>
        <p:nvSpPr>
          <p:cNvPr id="12" name="Text 7"/>
          <p:cNvSpPr/>
          <p:nvPr/>
        </p:nvSpPr>
        <p:spPr>
          <a:xfrm>
            <a:off x="827683" y="2717900"/>
            <a:ext cx="152538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b="1" dirty="0" smtClean="0">
                <a:solidFill>
                  <a:srgbClr val="D9E1FF"/>
                </a:solidFill>
                <a:ea typeface="Syne Bold" pitchFamily="34" charset="-122"/>
              </a:rPr>
              <a:t>Education</a:t>
            </a:r>
            <a:endParaRPr lang="en-US" sz="1200" dirty="0"/>
          </a:p>
          <a:p>
            <a:pPr>
              <a:lnSpc>
                <a:spcPts val="1500"/>
              </a:lnSpc>
            </a:pPr>
            <a:endParaRPr lang="en-US" sz="2333" dirty="0">
              <a:latin typeface="+mj-lt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27681" y="3160288"/>
            <a:ext cx="5964634" cy="171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600" dirty="0">
                <a:solidFill>
                  <a:srgbClr val="F9FAFB"/>
                </a:solidFill>
                <a:latin typeface="quote-cjk-patch"/>
              </a:rPr>
              <a:t>St. Petersburg University (Physics &amp; Mathematics)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698104" y="3724969"/>
            <a:ext cx="6223794" cy="1144588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</p:sp>
      <p:sp>
        <p:nvSpPr>
          <p:cNvPr id="17" name="Text 11"/>
          <p:cNvSpPr/>
          <p:nvPr/>
        </p:nvSpPr>
        <p:spPr>
          <a:xfrm>
            <a:off x="827680" y="3911189"/>
            <a:ext cx="152538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3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Teaching Activity</a:t>
            </a:r>
            <a:endParaRPr lang="en-US" sz="1167" dirty="0">
              <a:latin typeface="+mj-lt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7679" y="4460726"/>
            <a:ext cx="6513373" cy="177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400" dirty="0" smtClean="0">
                <a:solidFill>
                  <a:srgbClr val="F9FAFB"/>
                </a:solidFill>
                <a:latin typeface="quote-cjk-patch"/>
              </a:rPr>
              <a:t>Lecturer 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at 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Kronstadt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 Navy School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98104" y="4953794"/>
            <a:ext cx="6223794" cy="1144588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</p:sp>
      <p:sp>
        <p:nvSpPr>
          <p:cNvPr id="22" name="Text 15"/>
          <p:cNvSpPr/>
          <p:nvPr/>
        </p:nvSpPr>
        <p:spPr>
          <a:xfrm>
            <a:off x="827683" y="5139262"/>
            <a:ext cx="152538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333" b="1" dirty="0" smtClean="0">
                <a:solidFill>
                  <a:srgbClr val="D9E1FF"/>
                </a:solidFill>
                <a:ea typeface="Syne Bold" pitchFamily="34" charset="-122"/>
              </a:rPr>
              <a:t>Scientifics interests</a:t>
            </a:r>
            <a:endParaRPr lang="en-US" sz="1167" dirty="0"/>
          </a:p>
        </p:txBody>
      </p:sp>
      <p:sp>
        <p:nvSpPr>
          <p:cNvPr id="23" name="Text 16"/>
          <p:cNvSpPr/>
          <p:nvPr/>
        </p:nvSpPr>
        <p:spPr>
          <a:xfrm>
            <a:off x="827683" y="5611664"/>
            <a:ext cx="5964634" cy="171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400" dirty="0" smtClean="0">
                <a:solidFill>
                  <a:srgbClr val="F9FAFB"/>
                </a:solidFill>
                <a:latin typeface="quote-cjk-patch"/>
              </a:rPr>
              <a:t>Electromagnetism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, meteorology</a:t>
            </a:r>
            <a:endParaRPr lang="en-US" sz="1333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303" y="5912115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869" y="1269958"/>
            <a:ext cx="3934791" cy="47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7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4" y="944761"/>
            <a:ext cx="7345164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The Path to Invention</a:t>
            </a:r>
            <a:endParaRPr lang="en-US" sz="3667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45634" y="2797671"/>
            <a:ext cx="5154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345635" y="3316288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endParaRPr lang="en-US" sz="1833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45634" y="3809007"/>
            <a:ext cx="5154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345635" y="4339662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endParaRPr lang="en-US" sz="1833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45634" y="4820344"/>
            <a:ext cx="515461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303" y="5912115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5404247" y="218902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F9FAFB"/>
                </a:solidFill>
                <a:latin typeface="quote-cjk-patch"/>
              </a:rPr>
              <a:t>-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</a:t>
            </a:r>
            <a:r>
              <a:rPr lang="en-US" sz="2400" dirty="0" smtClean="0">
                <a:solidFill>
                  <a:srgbClr val="F9FAFB"/>
                </a:solidFill>
                <a:latin typeface="quote-cjk-patch"/>
              </a:rPr>
              <a:t>Studied </a:t>
            </a:r>
            <a:r>
              <a:rPr lang="en-US" sz="2400" dirty="0">
                <a:solidFill>
                  <a:srgbClr val="F9FAFB"/>
                </a:solidFill>
                <a:latin typeface="quote-cjk-patch"/>
              </a:rPr>
              <a:t>Hertz’s experiments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>
                <a:solidFill>
                  <a:srgbClr val="F9FAFB"/>
                </a:solidFill>
                <a:latin typeface="quote-cjk-patch"/>
              </a:rPr>
              <a:t>- </a:t>
            </a:r>
            <a:r>
              <a:rPr lang="en-US" sz="2400" dirty="0">
                <a:solidFill>
                  <a:srgbClr val="F9FAFB"/>
                </a:solidFill>
                <a:latin typeface="quote-cjk-patch"/>
              </a:rPr>
              <a:t>Goal: detect lightning at a distance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>
                <a:solidFill>
                  <a:srgbClr val="F9FAFB"/>
                </a:solidFill>
                <a:latin typeface="quote-cjk-patch"/>
              </a:rPr>
              <a:t>- </a:t>
            </a:r>
            <a:r>
              <a:rPr lang="en-US" sz="2400" dirty="0">
                <a:solidFill>
                  <a:srgbClr val="F9FAFB"/>
                </a:solidFill>
                <a:latin typeface="quote-cjk-patch"/>
              </a:rPr>
              <a:t>Improved the coherer (</a:t>
            </a:r>
            <a:r>
              <a:rPr lang="en-US" sz="2400" dirty="0" err="1">
                <a:solidFill>
                  <a:srgbClr val="F9FAFB"/>
                </a:solidFill>
                <a:latin typeface="quote-cjk-patch"/>
              </a:rPr>
              <a:t>Branly’s</a:t>
            </a:r>
            <a:r>
              <a:rPr lang="en-US" sz="2400" dirty="0">
                <a:solidFill>
                  <a:srgbClr val="F9FAFB"/>
                </a:solidFill>
                <a:latin typeface="quote-cjk-patch"/>
              </a:rPr>
              <a:t> tube)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>
                <a:solidFill>
                  <a:srgbClr val="F9FAFB"/>
                </a:solidFill>
                <a:latin typeface="quote-cjk-patch"/>
              </a:rPr>
              <a:t>- </a:t>
            </a:r>
            <a:r>
              <a:rPr lang="en-US" sz="2400" dirty="0">
                <a:solidFill>
                  <a:srgbClr val="F9FAFB"/>
                </a:solidFill>
                <a:latin typeface="quote-cjk-patch"/>
              </a:rPr>
              <a:t>Added antenna and automatic decoherer</a:t>
            </a:r>
            <a:endParaRPr lang="ru-RU" sz="24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90" y="2009167"/>
            <a:ext cx="3867209" cy="34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104" y="897434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4000" b="1" dirty="0">
                <a:solidFill>
                  <a:srgbClr val="F9FAFB"/>
                </a:solidFill>
                <a:latin typeface="quote-cjk-patch"/>
              </a:rPr>
              <a:t>The Invention of Radio</a:t>
            </a:r>
            <a:endParaRPr lang="en-US" sz="3667" dirty="0">
              <a:latin typeface="+mj-lt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2" y="1567300"/>
            <a:ext cx="997347" cy="11968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4880" y="256937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endParaRPr lang="en-US" sz="1833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1795164" y="1577162"/>
            <a:ext cx="502701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00" dirty="0">
                <a:solidFill>
                  <a:schemeClr val="bg1"/>
                </a:solidFill>
              </a:rPr>
              <a:t> May 7, 1895 – demonstration of </a:t>
            </a:r>
            <a:endParaRPr lang="ru-RU" sz="1500" dirty="0" smtClean="0">
              <a:solidFill>
                <a:schemeClr val="bg1"/>
              </a:solidFill>
            </a:endParaRPr>
          </a:p>
          <a:p>
            <a:pPr>
              <a:lnSpc>
                <a:spcPts val="2500"/>
              </a:lnSpc>
            </a:pPr>
            <a:r>
              <a:rPr lang="en-US" sz="1500" dirty="0" smtClean="0">
                <a:solidFill>
                  <a:schemeClr val="bg1"/>
                </a:solidFill>
              </a:rPr>
              <a:t>«</a:t>
            </a:r>
            <a:r>
              <a:rPr lang="en-US" sz="1500" dirty="0">
                <a:solidFill>
                  <a:schemeClr val="bg1"/>
                </a:solidFill>
              </a:rPr>
              <a:t>device for detecting and recording electrical </a:t>
            </a:r>
            <a:endParaRPr lang="ru-RU" sz="1500" dirty="0" smtClean="0">
              <a:solidFill>
                <a:schemeClr val="bg1"/>
              </a:solidFill>
            </a:endParaRPr>
          </a:p>
          <a:p>
            <a:pPr>
              <a:lnSpc>
                <a:spcPts val="2500"/>
              </a:lnSpc>
            </a:pPr>
            <a:r>
              <a:rPr lang="en-US" sz="1500" dirty="0" smtClean="0">
                <a:solidFill>
                  <a:schemeClr val="bg1"/>
                </a:solidFill>
              </a:rPr>
              <a:t>oscillations</a:t>
            </a:r>
            <a:r>
              <a:rPr lang="en-US" sz="1500" dirty="0">
                <a:solidFill>
                  <a:schemeClr val="bg1"/>
                </a:solidFill>
              </a:rPr>
              <a:t>»</a:t>
            </a:r>
            <a:endParaRPr lang="en-US" sz="1542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02" y="2918519"/>
            <a:ext cx="997347" cy="11968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164" y="3240681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600" dirty="0">
                <a:solidFill>
                  <a:srgbClr val="F9FAFB"/>
                </a:solidFill>
              </a:rPr>
              <a:t>First wireless receiver in the world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894880" y="4179193"/>
            <a:ext cx="502701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01" y="4277547"/>
            <a:ext cx="997347" cy="11968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163" y="4290526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de-DE" sz="1600" dirty="0">
                <a:solidFill>
                  <a:srgbClr val="F9FAFB"/>
                </a:solidFill>
              </a:rPr>
              <a:t>Transmitted signal «Heinrich Hertz</a:t>
            </a:r>
            <a:r>
              <a:rPr lang="de-DE" sz="1600" dirty="0" smtClean="0">
                <a:solidFill>
                  <a:srgbClr val="F9FAFB"/>
                </a:solidFill>
              </a:rPr>
              <a:t>»</a:t>
            </a:r>
            <a:endParaRPr lang="ru-RU" sz="1600" dirty="0" smtClean="0">
              <a:solidFill>
                <a:srgbClr val="F9FAFB"/>
              </a:solidFill>
            </a:endParaRPr>
          </a:p>
          <a:p>
            <a:pPr>
              <a:lnSpc>
                <a:spcPts val="2292"/>
              </a:lnSpc>
            </a:pPr>
            <a:r>
              <a:rPr lang="de-DE" sz="1600" dirty="0" smtClean="0">
                <a:solidFill>
                  <a:srgbClr val="F9FAFB"/>
                </a:solidFill>
              </a:rPr>
              <a:t> </a:t>
            </a:r>
            <a:r>
              <a:rPr lang="de-DE" sz="1600" dirty="0">
                <a:solidFill>
                  <a:srgbClr val="F9FAFB"/>
                </a:solidFill>
              </a:rPr>
              <a:t>in 1896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894880" y="5376069"/>
            <a:ext cx="502701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endParaRPr lang="en-US" sz="1542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5912115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AutoShape 4" descr="Файл:Faraday disk generator.jpg — Википедия"/>
          <p:cNvSpPr>
            <a:spLocks noChangeAspect="1" noChangeArrowheads="1"/>
          </p:cNvSpPr>
          <p:nvPr/>
        </p:nvSpPr>
        <p:spPr bwMode="auto">
          <a:xfrm>
            <a:off x="129646" y="-120386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sp>
        <p:nvSpPr>
          <p:cNvPr id="14" name="AutoShape 6" descr="Файл:Faraday disk generator.jpg — Википедия"/>
          <p:cNvSpPr>
            <a:spLocks noChangeAspect="1" noChangeArrowheads="1"/>
          </p:cNvSpPr>
          <p:nvPr/>
        </p:nvSpPr>
        <p:spPr bwMode="auto">
          <a:xfrm>
            <a:off x="52917" y="-113771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841" y="1636991"/>
            <a:ext cx="5191760" cy="367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6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6211" y="864522"/>
            <a:ext cx="7765071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4000" b="1" dirty="0">
                <a:solidFill>
                  <a:srgbClr val="F9FAFB"/>
                </a:solidFill>
                <a:latin typeface="quote-cjk-patch"/>
              </a:rPr>
              <a:t>Practical Applications in History</a:t>
            </a:r>
            <a:endParaRPr lang="en-US" sz="3667" dirty="0">
              <a:latin typeface="+mj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270102" y="2328509"/>
            <a:ext cx="3012182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5469532" y="2409284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The First Radio </a:t>
            </a:r>
            <a:r>
              <a:rPr lang="en-US" sz="1833" b="1" dirty="0" smtClean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Rescue</a:t>
            </a:r>
            <a:endParaRPr lang="ru-RU" sz="1833" b="1" dirty="0" smtClean="0">
              <a:solidFill>
                <a:srgbClr val="D9E1FF"/>
              </a:solidFill>
              <a:latin typeface="+mj-lt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2292"/>
              </a:lnSpc>
            </a:pPr>
            <a:r>
              <a:rPr lang="en-US" sz="1833" b="1" dirty="0" smtClean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Operation</a:t>
            </a:r>
            <a:endParaRPr lang="en-US" sz="1833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69531" y="3040461"/>
            <a:ext cx="261332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>
                <a:solidFill>
                  <a:srgbClr val="F9FAFB"/>
                </a:solidFill>
                <a:latin typeface="quote-cjk-patch"/>
              </a:rPr>
              <a:t>1899 – saved crew of ship «General-Admiral </a:t>
            </a:r>
            <a:r>
              <a:rPr lang="en-US" sz="1600" dirty="0" err="1">
                <a:solidFill>
                  <a:srgbClr val="F9FAFB"/>
                </a:solidFill>
                <a:latin typeface="quote-cjk-patch"/>
              </a:rPr>
              <a:t>Apraksin</a:t>
            </a:r>
            <a:r>
              <a:rPr lang="en-US" sz="1600" dirty="0">
                <a:solidFill>
                  <a:srgbClr val="F9FAFB"/>
                </a:solidFill>
                <a:latin typeface="quote-cjk-patch"/>
              </a:rPr>
              <a:t>»</a:t>
            </a:r>
            <a:endParaRPr lang="en-US" sz="1542" dirty="0"/>
          </a:p>
        </p:txBody>
      </p:sp>
      <p:sp>
        <p:nvSpPr>
          <p:cNvPr id="7" name="Shape 4"/>
          <p:cNvSpPr/>
          <p:nvPr/>
        </p:nvSpPr>
        <p:spPr>
          <a:xfrm>
            <a:off x="8481714" y="2328509"/>
            <a:ext cx="3012182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8681145" y="2521446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The First Practical </a:t>
            </a:r>
            <a:r>
              <a:rPr lang="en-US" sz="1833" b="1" dirty="0" smtClean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Wireless</a:t>
            </a:r>
            <a:endParaRPr lang="ru-RU" sz="1833" b="1" dirty="0" smtClean="0">
              <a:solidFill>
                <a:srgbClr val="D9E1FF"/>
              </a:solidFill>
              <a:latin typeface="+mj-lt"/>
              <a:ea typeface="Syne Bold" pitchFamily="34" charset="-122"/>
              <a:cs typeface="Syne Bold" pitchFamily="34" charset="-120"/>
            </a:endParaRPr>
          </a:p>
          <a:p>
            <a:pPr>
              <a:lnSpc>
                <a:spcPts val="2292"/>
              </a:lnSpc>
            </a:pPr>
            <a:r>
              <a:rPr lang="en-US" sz="1833" b="1" dirty="0" smtClean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 </a:t>
            </a: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Line</a:t>
            </a:r>
            <a:endParaRPr lang="en-US" sz="1833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19337" y="3140317"/>
            <a:ext cx="261332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400" dirty="0">
                <a:solidFill>
                  <a:srgbClr val="F9FAFB"/>
                </a:solidFill>
                <a:latin typeface="quote-cjk-patch"/>
              </a:rPr>
              <a:t>1900 – first radio link between islands (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Gogland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–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Kotka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)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5270102" y="4290815"/>
            <a:ext cx="6223794" cy="1130994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5469533" y="4490245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Icebreaker Support by Radio</a:t>
            </a:r>
            <a:endParaRPr lang="en-US" sz="1833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69533" y="4903192"/>
            <a:ext cx="58249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400" dirty="0">
                <a:solidFill>
                  <a:srgbClr val="F9FAFB"/>
                </a:solidFill>
                <a:latin typeface="quote-cjk-patch"/>
              </a:rPr>
              <a:t>Ship «</a:t>
            </a:r>
            <a:r>
              <a:rPr lang="en-US" sz="1400" dirty="0" err="1">
                <a:solidFill>
                  <a:srgbClr val="F9FAFB"/>
                </a:solidFill>
                <a:latin typeface="quote-cjk-patch"/>
              </a:rPr>
              <a:t>Ermak</a:t>
            </a:r>
            <a:r>
              <a:rPr lang="en-US" sz="1400" dirty="0">
                <a:solidFill>
                  <a:srgbClr val="F9FAFB"/>
                </a:solidFill>
                <a:latin typeface="quote-cjk-patch"/>
              </a:rPr>
              <a:t>» – icebreaker communication</a:t>
            </a:r>
            <a:endParaRPr lang="en-US" sz="1333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5883672"/>
            <a:ext cx="2381250" cy="94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81" y="2368162"/>
            <a:ext cx="4457790" cy="296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87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460" y="2895042"/>
            <a:ext cx="2381250" cy="699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0"/>
          <p:cNvSpPr/>
          <p:nvPr/>
        </p:nvSpPr>
        <p:spPr>
          <a:xfrm>
            <a:off x="698103" y="594619"/>
            <a:ext cx="883562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	Modern Use of Radio Technology</a:t>
            </a:r>
            <a:endParaRPr lang="en-US" sz="3667" dirty="0">
              <a:latin typeface="+mj-lt"/>
            </a:endParaRPr>
          </a:p>
        </p:txBody>
      </p:sp>
      <p:sp>
        <p:nvSpPr>
          <p:cNvPr id="12" name="AutoShape 4" descr="Какие двигатели в квадрокоптерах: критерии выбора двигателя"/>
          <p:cNvSpPr>
            <a:spLocks noChangeAspect="1" noChangeArrowheads="1"/>
          </p:cNvSpPr>
          <p:nvPr/>
        </p:nvSpPr>
        <p:spPr bwMode="auto">
          <a:xfrm>
            <a:off x="129646" y="-120386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sp>
        <p:nvSpPr>
          <p:cNvPr id="13" name="AutoShape 6" descr="Какие двигатели в квадрокоптерах: критерии выбора двигателя"/>
          <p:cNvSpPr>
            <a:spLocks noChangeAspect="1" noChangeArrowheads="1"/>
          </p:cNvSpPr>
          <p:nvPr/>
        </p:nvSpPr>
        <p:spPr bwMode="auto">
          <a:xfrm>
            <a:off x="256646" y="6615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sp>
        <p:nvSpPr>
          <p:cNvPr id="14" name="AutoShape 8" descr="Какие двигатели в квадрокоптерах: критерии выбора двигателя"/>
          <p:cNvSpPr>
            <a:spLocks noChangeAspect="1" noChangeArrowheads="1"/>
          </p:cNvSpPr>
          <p:nvPr/>
        </p:nvSpPr>
        <p:spPr bwMode="auto">
          <a:xfrm>
            <a:off x="383646" y="133615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sp>
        <p:nvSpPr>
          <p:cNvPr id="9" name="Прямоугольник 8"/>
          <p:cNvSpPr/>
          <p:nvPr/>
        </p:nvSpPr>
        <p:spPr>
          <a:xfrm>
            <a:off x="3538950" y="4294431"/>
            <a:ext cx="16594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Broadcasting</a:t>
            </a:r>
            <a:r>
              <a:rPr lang="en-US" dirty="0" smtClean="0">
                <a:solidFill>
                  <a:srgbClr val="F9FAFB"/>
                </a:solidFill>
                <a:latin typeface="quote-cjk-patch"/>
              </a:rPr>
              <a:t>,</a:t>
            </a:r>
            <a:endParaRPr lang="ru-RU" dirty="0" smtClean="0">
              <a:solidFill>
                <a:srgbClr val="F9FAFB"/>
              </a:solidFill>
              <a:latin typeface="quote-cjk-patch"/>
            </a:endParaRPr>
          </a:p>
          <a:p>
            <a:r>
              <a:rPr lang="en-US" dirty="0" smtClean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TV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538950" y="2308489"/>
            <a:ext cx="18261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9FAFB"/>
                </a:solidFill>
                <a:latin typeface="quote-cjk-patch"/>
              </a:rPr>
              <a:t>Cell phones, </a:t>
            </a:r>
            <a:endParaRPr lang="ru-RU" dirty="0" smtClean="0">
              <a:solidFill>
                <a:srgbClr val="F9FAFB"/>
              </a:solidFill>
              <a:latin typeface="quote-cjk-patch"/>
            </a:endParaRPr>
          </a:p>
          <a:p>
            <a:r>
              <a:rPr lang="en-US" dirty="0" smtClean="0">
                <a:solidFill>
                  <a:srgbClr val="F9FAFB"/>
                </a:solidFill>
                <a:latin typeface="quote-cjk-patch"/>
              </a:rPr>
              <a:t>Wi-Fi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, Bluetooth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9182730" y="2446988"/>
            <a:ext cx="1415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9FAFB"/>
                </a:solidFill>
                <a:latin typeface="quote-cjk-patch"/>
              </a:rPr>
              <a:t>Radar, GPS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9057137" y="4248265"/>
            <a:ext cx="20398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9FAFB"/>
                </a:solidFill>
                <a:latin typeface="quote-cjk-patch"/>
              </a:rPr>
              <a:t> Radio astronomy</a:t>
            </a:r>
            <a:r>
              <a:rPr lang="en-US" dirty="0" smtClean="0">
                <a:solidFill>
                  <a:srgbClr val="F9FAFB"/>
                </a:solidFill>
                <a:latin typeface="quote-cjk-patch"/>
              </a:rPr>
              <a:t>,</a:t>
            </a:r>
            <a:endParaRPr lang="ru-RU" dirty="0" smtClean="0">
              <a:solidFill>
                <a:srgbClr val="F9FAFB"/>
              </a:solidFill>
              <a:latin typeface="quote-cjk-patch"/>
            </a:endParaRPr>
          </a:p>
          <a:p>
            <a:r>
              <a:rPr lang="en-US" dirty="0" smtClean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satellite comm.</a:t>
            </a:r>
            <a:endParaRPr lang="ru-RU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86" y="3683433"/>
            <a:ext cx="2513864" cy="1868328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11" y="1831555"/>
            <a:ext cx="2601739" cy="16002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138" y="1774165"/>
            <a:ext cx="3066600" cy="171498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34" y="3683433"/>
            <a:ext cx="3046603" cy="186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50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3646" y="333045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Conclusion</a:t>
            </a:r>
            <a:endParaRPr lang="en-US" sz="3667" dirty="0">
              <a:latin typeface="+mj-lt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35819" y="1039383"/>
            <a:ext cx="6223794" cy="1181794"/>
          </a:xfrm>
          <a:prstGeom prst="roundRect">
            <a:avLst>
              <a:gd name="adj" fmla="val 10317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5819" y="1052083"/>
            <a:ext cx="101600" cy="1181794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6" name="Text 3"/>
          <p:cNvSpPr/>
          <p:nvPr/>
        </p:nvSpPr>
        <p:spPr>
          <a:xfrm>
            <a:off x="662249" y="1276912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Legacy </a:t>
            </a:r>
            <a:endParaRPr lang="en-US" sz="1833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2249" y="1689860"/>
            <a:ext cx="56979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Popov's work launched the era of wireless communication</a:t>
            </a:r>
            <a:endParaRPr lang="en-US" sz="1542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75" y="6324089"/>
            <a:ext cx="2381250" cy="5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utoShape 4" descr="Концепция технологии зеленой энергии с 3d-рендерингом киборга, работающего  на ветряной мельнице | Премиум фото"/>
          <p:cNvSpPr>
            <a:spLocks noChangeAspect="1" noChangeArrowheads="1"/>
          </p:cNvSpPr>
          <p:nvPr/>
        </p:nvSpPr>
        <p:spPr bwMode="auto">
          <a:xfrm>
            <a:off x="129646" y="-120386"/>
            <a:ext cx="254000" cy="2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ru-RU" sz="1500"/>
          </a:p>
        </p:txBody>
      </p:sp>
      <p:sp>
        <p:nvSpPr>
          <p:cNvPr id="15" name="Shape 1"/>
          <p:cNvSpPr/>
          <p:nvPr/>
        </p:nvSpPr>
        <p:spPr>
          <a:xfrm>
            <a:off x="335819" y="2340834"/>
            <a:ext cx="6223794" cy="1181794"/>
          </a:xfrm>
          <a:prstGeom prst="roundRect">
            <a:avLst>
              <a:gd name="adj" fmla="val 10317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6" name="Shape 2"/>
          <p:cNvSpPr/>
          <p:nvPr/>
        </p:nvSpPr>
        <p:spPr>
          <a:xfrm>
            <a:off x="335819" y="2353534"/>
            <a:ext cx="101600" cy="1181794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17" name="Text 3"/>
          <p:cNvSpPr/>
          <p:nvPr/>
        </p:nvSpPr>
        <p:spPr>
          <a:xfrm>
            <a:off x="662249" y="257836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Impact </a:t>
            </a:r>
            <a:endParaRPr lang="en-US" sz="1833" dirty="0">
              <a:latin typeface="+mj-lt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62249" y="2991311"/>
            <a:ext cx="56979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Foundation for today's global networks (mobile, Wi-Fi, satellite)</a:t>
            </a:r>
            <a:endParaRPr lang="en-US" sz="1542" dirty="0"/>
          </a:p>
        </p:txBody>
      </p:sp>
      <p:sp>
        <p:nvSpPr>
          <p:cNvPr id="20" name="Shape 1"/>
          <p:cNvSpPr/>
          <p:nvPr/>
        </p:nvSpPr>
        <p:spPr>
          <a:xfrm>
            <a:off x="335819" y="3625195"/>
            <a:ext cx="6223794" cy="1181794"/>
          </a:xfrm>
          <a:prstGeom prst="roundRect">
            <a:avLst>
              <a:gd name="adj" fmla="val 10317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21" name="Shape 2"/>
          <p:cNvSpPr/>
          <p:nvPr/>
        </p:nvSpPr>
        <p:spPr>
          <a:xfrm>
            <a:off x="335819" y="3637895"/>
            <a:ext cx="101600" cy="1181794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22" name="Text 3"/>
          <p:cNvSpPr/>
          <p:nvPr/>
        </p:nvSpPr>
        <p:spPr>
          <a:xfrm>
            <a:off x="662249" y="3862724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Future </a:t>
            </a:r>
            <a:endParaRPr lang="en-US" sz="1833" dirty="0">
              <a:latin typeface="+mj-lt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62249" y="4275672"/>
            <a:ext cx="56979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5G, quantum radio, deep-space communication</a:t>
            </a:r>
            <a:endParaRPr lang="en-US" sz="1542" dirty="0"/>
          </a:p>
        </p:txBody>
      </p:sp>
      <p:sp>
        <p:nvSpPr>
          <p:cNvPr id="24" name="Shape 1"/>
          <p:cNvSpPr/>
          <p:nvPr/>
        </p:nvSpPr>
        <p:spPr>
          <a:xfrm>
            <a:off x="335819" y="4896856"/>
            <a:ext cx="6223794" cy="1181794"/>
          </a:xfrm>
          <a:prstGeom prst="roundRect">
            <a:avLst>
              <a:gd name="adj" fmla="val 10317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25" name="Shape 2"/>
          <p:cNvSpPr/>
          <p:nvPr/>
        </p:nvSpPr>
        <p:spPr>
          <a:xfrm>
            <a:off x="335819" y="4909556"/>
            <a:ext cx="101600" cy="1181794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</p:sp>
      <p:sp>
        <p:nvSpPr>
          <p:cNvPr id="26" name="Text 3"/>
          <p:cNvSpPr/>
          <p:nvPr/>
        </p:nvSpPr>
        <p:spPr>
          <a:xfrm>
            <a:off x="662249" y="5134385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D9E1FF"/>
                </a:solidFill>
                <a:latin typeface="+mj-lt"/>
                <a:ea typeface="Syne Bold" pitchFamily="34" charset="-122"/>
                <a:cs typeface="Syne Bold" pitchFamily="34" charset="-120"/>
              </a:rPr>
              <a:t>Philosophy </a:t>
            </a:r>
            <a:endParaRPr lang="en-US" sz="1833" dirty="0">
              <a:latin typeface="+mj-lt"/>
            </a:endParaRPr>
          </a:p>
        </p:txBody>
      </p:sp>
      <p:sp>
        <p:nvSpPr>
          <p:cNvPr id="27" name="Text 4"/>
          <p:cNvSpPr/>
          <p:nvPr/>
        </p:nvSpPr>
        <p:spPr>
          <a:xfrm>
            <a:off x="662249" y="5547333"/>
            <a:ext cx="569793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"An invention belongs not to one person, but to humanity"</a:t>
            </a:r>
            <a:endParaRPr lang="en-US" sz="1542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105" y="1849453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6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563" y="542677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References</a:t>
            </a:r>
            <a:endParaRPr lang="en-US" sz="3667" dirty="0">
              <a:latin typeface="+mj-lt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6352877"/>
            <a:ext cx="2381250" cy="50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3341077" y="204489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9FAFB"/>
                </a:solidFill>
                <a:latin typeface="quote-cjk-patch"/>
              </a:rPr>
              <a:t>1. IEEE </a:t>
            </a:r>
            <a:r>
              <a:rPr lang="en-US" b="1" dirty="0">
                <a:solidFill>
                  <a:srgbClr val="F9FAFB"/>
                </a:solidFill>
                <a:latin typeface="quote-cjk-patch"/>
              </a:rPr>
              <a:t>Spectrum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— </a:t>
            </a:r>
            <a:r>
              <a:rPr lang="en-US" i="1" dirty="0">
                <a:solidFill>
                  <a:srgbClr val="F9FAFB"/>
                </a:solidFill>
                <a:latin typeface="quote-cjk-patch"/>
              </a:rPr>
              <a:t>Who Invented Radio: </a:t>
            </a:r>
            <a:r>
              <a:rPr lang="en-US" i="1" dirty="0" err="1">
                <a:solidFill>
                  <a:srgbClr val="F9FAFB"/>
                </a:solidFill>
                <a:latin typeface="quote-cjk-patch"/>
              </a:rPr>
              <a:t>Guglielmo</a:t>
            </a:r>
            <a:r>
              <a:rPr lang="en-US" i="1" dirty="0">
                <a:solidFill>
                  <a:srgbClr val="F9FAFB"/>
                </a:solidFill>
                <a:latin typeface="quote-cjk-patch"/>
              </a:rPr>
              <a:t> Marconi or </a:t>
            </a:r>
            <a:r>
              <a:rPr lang="en-US" i="1" dirty="0" err="1">
                <a:solidFill>
                  <a:srgbClr val="F9FAFB"/>
                </a:solidFill>
                <a:latin typeface="quote-cjk-patch"/>
              </a:rPr>
              <a:t>Aleksandr</a:t>
            </a:r>
            <a:r>
              <a:rPr lang="en-US" i="1" dirty="0">
                <a:solidFill>
                  <a:srgbClr val="F9FAFB"/>
                </a:solidFill>
                <a:latin typeface="quote-cjk-patch"/>
              </a:rPr>
              <a:t> Popov?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(2020</a:t>
            </a:r>
            <a:r>
              <a:rPr lang="en-US" dirty="0" smtClean="0">
                <a:solidFill>
                  <a:srgbClr val="F9FAFB"/>
                </a:solidFill>
                <a:latin typeface="quote-cjk-patch"/>
              </a:rPr>
              <a:t>)</a:t>
            </a:r>
            <a:br>
              <a:rPr lang="en-US" dirty="0" smtClean="0">
                <a:solidFill>
                  <a:srgbClr val="F9FAFB"/>
                </a:solidFill>
                <a:latin typeface="quote-cjk-patch"/>
              </a:rPr>
            </a:br>
            <a:r>
              <a:rPr lang="en-US" dirty="0">
                <a:solidFill>
                  <a:srgbClr val="00B0F0"/>
                </a:solidFill>
                <a:latin typeface="Menlo"/>
              </a:rPr>
              <a:t>https://spectrum.ieee.org/who-invented-radio-guglielmo-marconi-or-aleksandr-popov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341077" y="34223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dirty="0" smtClean="0">
                <a:solidFill>
                  <a:srgbClr val="F9FAFB"/>
                </a:solidFill>
                <a:latin typeface="quote-cjk-patch"/>
              </a:rPr>
              <a:t>2. Britannica</a:t>
            </a:r>
            <a:r>
              <a:rPr lang="it-IT" dirty="0">
                <a:solidFill>
                  <a:srgbClr val="F9FAFB"/>
                </a:solidFill>
                <a:latin typeface="quote-cjk-patch"/>
              </a:rPr>
              <a:t> — </a:t>
            </a:r>
            <a:r>
              <a:rPr lang="it-IT" i="1" dirty="0">
                <a:solidFill>
                  <a:srgbClr val="F9FAFB"/>
                </a:solidFill>
                <a:latin typeface="quote-cjk-patch"/>
              </a:rPr>
              <a:t>Aleksandr Popov | Russian Radio Pioneer &amp; </a:t>
            </a:r>
            <a:r>
              <a:rPr lang="it-IT" i="1" dirty="0" smtClean="0">
                <a:solidFill>
                  <a:srgbClr val="F9FAFB"/>
                </a:solidFill>
                <a:latin typeface="quote-cjk-patch"/>
              </a:rPr>
              <a:t>Invento</a:t>
            </a:r>
          </a:p>
          <a:p>
            <a:r>
              <a:rPr lang="en-US" dirty="0">
                <a:solidFill>
                  <a:srgbClr val="00B0F0"/>
                </a:solidFill>
                <a:latin typeface="Menlo"/>
              </a:rPr>
              <a:t>https://www.britannica.com/biography/Aleksandr-Popov-Russian-engineer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341077" y="479982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9FAFB"/>
                </a:solidFill>
                <a:latin typeface="quote-cjk-patch"/>
              </a:rPr>
              <a:t>3. ETHW </a:t>
            </a:r>
            <a:r>
              <a:rPr lang="en-US" b="1" dirty="0">
                <a:solidFill>
                  <a:srgbClr val="F9FAFB"/>
                </a:solidFill>
                <a:latin typeface="quote-cjk-patch"/>
              </a:rPr>
              <a:t>(Engineering and Technology History Wiki)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— </a:t>
            </a:r>
            <a:r>
              <a:rPr lang="en-US" i="1" dirty="0" err="1">
                <a:solidFill>
                  <a:srgbClr val="F9FAFB"/>
                </a:solidFill>
                <a:latin typeface="quote-cjk-patch"/>
              </a:rPr>
              <a:t>Aleksandr</a:t>
            </a:r>
            <a:r>
              <a:rPr lang="en-US" i="1" dirty="0">
                <a:solidFill>
                  <a:srgbClr val="F9FAFB"/>
                </a:solidFill>
                <a:latin typeface="quote-cjk-patch"/>
              </a:rPr>
              <a:t> Popov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(2016</a:t>
            </a:r>
            <a:r>
              <a:rPr lang="en-US" dirty="0" smtClean="0">
                <a:solidFill>
                  <a:srgbClr val="F9FAFB"/>
                </a:solidFill>
                <a:latin typeface="quote-cjk-patch"/>
              </a:rPr>
              <a:t>)</a:t>
            </a:r>
          </a:p>
          <a:p>
            <a:r>
              <a:rPr lang="en-US" dirty="0">
                <a:solidFill>
                  <a:srgbClr val="00B0F0"/>
                </a:solidFill>
                <a:latin typeface="Menlo"/>
              </a:rPr>
              <a:t>https://ethw.org/Aleksandr_Popov</a:t>
            </a:r>
            <a:endParaRPr lang="ru-R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532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344</Words>
  <Application>Microsoft Office PowerPoint</Application>
  <PresentationFormat>Широкоэкранный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Arimo</vt:lpstr>
      <vt:lpstr>Calibri</vt:lpstr>
      <vt:lpstr>Calibri Light</vt:lpstr>
      <vt:lpstr>Menlo</vt:lpstr>
      <vt:lpstr>quote-cjk-patch</vt:lpstr>
      <vt:lpstr>Syne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Honor</dc:creator>
  <cp:lastModifiedBy>Семён Шеремет</cp:lastModifiedBy>
  <cp:revision>20</cp:revision>
  <dcterms:created xsi:type="dcterms:W3CDTF">2026-04-27T20:30:48Z</dcterms:created>
  <dcterms:modified xsi:type="dcterms:W3CDTF">2026-05-05T10:19:05Z</dcterms:modified>
</cp:coreProperties>
</file>