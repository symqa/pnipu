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4630400" cy="8229600"/>
  <p:notesSz cx="8229600" cy="14630400"/>
  <p:embeddedFontLst>
    <p:embeddedFont>
      <p:font typeface="Gelasio"/>
      <p:regular r:id="rId17"/>
    </p:embeddedFont>
    <p:embeddedFont>
      <p:font typeface="Gelasio"/>
      <p:regular r:id="rId18"/>
    </p:embeddedFont>
    <p:embeddedFont>
      <p:font typeface="Gelasio"/>
      <p:regular r:id="rId19"/>
    </p:embeddedFont>
    <p:embeddedFont>
      <p:font typeface="Gelasio"/>
      <p:regular r:id="rId20"/>
    </p:embeddedFont>
    <p:embeddedFont>
      <p:font typeface="Gelasio"/>
      <p:regular r:id="rId21"/>
    </p:embeddedFont>
    <p:embeddedFont>
      <p:font typeface="Gelasio"/>
      <p:regular r:id="rId22"/>
    </p:embeddedFont>
    <p:embeddedFont>
      <p:font typeface="Gelasio"/>
      <p:regular r:id="rId23"/>
    </p:embeddedFont>
    <p:embeddedFont>
      <p:font typeface="Gelasio"/>
      <p:regular r:id="rId24"/>
    </p:embeddedFont>
  </p:embeddedFon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17" Type="http://schemas.openxmlformats.org/officeDocument/2006/relationships/font" Target="fonts/font1.fntdata"/><Relationship Id="rId18" Type="http://schemas.openxmlformats.org/officeDocument/2006/relationships/font" Target="fonts/font2.fntdata"/><Relationship Id="rId19" Type="http://schemas.openxmlformats.org/officeDocument/2006/relationships/font" Target="fonts/font3.fntdata"/><Relationship Id="rId20" Type="http://schemas.openxmlformats.org/officeDocument/2006/relationships/font" Target="fonts/font4.fntdata"/><Relationship Id="rId21" Type="http://schemas.openxmlformats.org/officeDocument/2006/relationships/font" Target="fonts/font5.fntdata"/><Relationship Id="rId22" Type="http://schemas.openxmlformats.org/officeDocument/2006/relationships/font" Target="fonts/font6.fntdata"/><Relationship Id="rId23" Type="http://schemas.openxmlformats.org/officeDocument/2006/relationships/font" Target="fonts/font7.fntdata"/><Relationship Id="rId24" Type="http://schemas.openxmlformats.org/officeDocument/2006/relationships/font" Target="fonts/font8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png"/><Relationship Id="rId3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3-1.png"/><Relationship Id="rId3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4-1.png"/><Relationship Id="rId3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5-1.png"/><Relationship Id="rId3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6-1.png"/><Relationship Id="rId3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7-1.png"/><Relationship Id="rId3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8-1.png"/><Relationship Id="rId3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9-1.png"/><Relationship Id="rId3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10-1.png"/><Relationship Id="rId3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11-1.png"/><Relationship Id="rId3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302D2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464342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302D2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464342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302D2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464342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302D2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464342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302D2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464342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302D2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464342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302D2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464342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302D2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464342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302D2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464342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302D2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464342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4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5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slideLayout" Target="../slideLayouts/slideLayout6.xml"/><Relationship Id="rId6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7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8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slideLayout" Target="../slideLayouts/slideLayout9.xml"/><Relationship Id="rId5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slideLayout" Target="../slideLayouts/slideLayout10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1.xml"/><Relationship Id="rId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2691527"/>
            <a:ext cx="7556421" cy="1417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dirty="0">
                <a:solidFill>
                  <a:srgbClr val="D8B6A4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Польза и вред занятий настольным теннисом</a:t>
            </a:r>
            <a:endParaRPr lang="en-US" sz="4450" dirty="0"/>
          </a:p>
        </p:txBody>
      </p:sp>
      <p:sp>
        <p:nvSpPr>
          <p:cNvPr id="4" name="Text 1"/>
          <p:cNvSpPr/>
          <p:nvPr/>
        </p:nvSpPr>
        <p:spPr>
          <a:xfrm>
            <a:off x="793790" y="4449247"/>
            <a:ext cx="7556421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C9C2C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Выполнили:</a:t>
            </a:r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C9C2C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Агапитов Андрей КОБ-23-1с</a:t>
            </a:r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C9C2C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Бояршинов Александр КОБ-23-1с</a:t>
            </a:r>
            <a:endParaRPr lang="en-US" sz="17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19257" y="577453"/>
            <a:ext cx="7041713" cy="6421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050"/>
              </a:lnSpc>
              <a:buNone/>
            </a:pPr>
            <a:r>
              <a:rPr lang="en-US" sz="4000" dirty="0">
                <a:solidFill>
                  <a:srgbClr val="D8B6A4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Актуальность исследования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719257" y="1733312"/>
            <a:ext cx="5417701" cy="3852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2400" dirty="0">
                <a:solidFill>
                  <a:srgbClr val="D8B6A4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Популярность настольного тенниса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719257" y="2324100"/>
            <a:ext cx="7714536" cy="9861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50"/>
              </a:lnSpc>
              <a:buNone/>
            </a:pPr>
            <a:r>
              <a:rPr lang="en-US" sz="1600" dirty="0">
                <a:solidFill>
                  <a:srgbClr val="C9C2C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Настольный теннис является одним из самых популярных видов спорта во всем мире. Все больше людей начинают заниматься им не только для улучшения здоровья, но и как увлекательное развлечение.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719257" y="3515797"/>
            <a:ext cx="4524018" cy="3852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2400" dirty="0">
                <a:solidFill>
                  <a:srgbClr val="D8B6A4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Сложность игровой механики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19257" y="4106585"/>
            <a:ext cx="7714536" cy="9861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50"/>
              </a:lnSpc>
              <a:buNone/>
            </a:pPr>
            <a:r>
              <a:rPr lang="en-US" sz="1600" dirty="0">
                <a:solidFill>
                  <a:srgbClr val="C9C2C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Игра включает сложные движения: ускорение, замедление, смену направления и быстрые перемещения. Каждый удар требует точности, координации и расчета оптимальной производительности.</a:t>
            </a:r>
            <a:endParaRPr lang="en-US" sz="1600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42665" y="1758910"/>
            <a:ext cx="4975979" cy="3404592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942665" y="5394603"/>
            <a:ext cx="4975979" cy="6574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50"/>
              </a:lnSpc>
              <a:buNone/>
            </a:pPr>
            <a:r>
              <a:rPr lang="en-US" sz="1600" b="1" dirty="0">
                <a:solidFill>
                  <a:srgbClr val="C49F8C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Олимпийский статус</a:t>
            </a:r>
            <a:pPr algn="l" indent="0" marL="0">
              <a:lnSpc>
                <a:spcPts val="2550"/>
              </a:lnSpc>
              <a:buNone/>
            </a:pPr>
            <a:r>
              <a:rPr lang="en-US" sz="1600" dirty="0">
                <a:solidFill>
                  <a:srgbClr val="C9C2C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 подтверждает значимость спорта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719257" y="6468070"/>
            <a:ext cx="4260294" cy="1184077"/>
          </a:xfrm>
          <a:prstGeom prst="roundRect">
            <a:avLst>
              <a:gd name="adj" fmla="val 2603"/>
            </a:avLst>
          </a:prstGeom>
          <a:solidFill>
            <a:srgbClr val="373433"/>
          </a:solidFill>
          <a:ln/>
        </p:spPr>
      </p:sp>
      <p:sp>
        <p:nvSpPr>
          <p:cNvPr id="10" name="Text 7"/>
          <p:cNvSpPr/>
          <p:nvPr/>
        </p:nvSpPr>
        <p:spPr>
          <a:xfrm>
            <a:off x="924758" y="6673572"/>
            <a:ext cx="3047405" cy="3211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2000" dirty="0">
                <a:solidFill>
                  <a:srgbClr val="C9C2C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Координация движений</a:t>
            </a:r>
            <a:endParaRPr lang="en-US" sz="2000" dirty="0"/>
          </a:p>
        </p:txBody>
      </p:sp>
      <p:sp>
        <p:nvSpPr>
          <p:cNvPr id="11" name="Text 8"/>
          <p:cNvSpPr/>
          <p:nvPr/>
        </p:nvSpPr>
        <p:spPr>
          <a:xfrm>
            <a:off x="924758" y="7117913"/>
            <a:ext cx="3849291" cy="3287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50"/>
              </a:lnSpc>
              <a:buNone/>
            </a:pPr>
            <a:r>
              <a:rPr lang="en-US" sz="1600" dirty="0">
                <a:solidFill>
                  <a:srgbClr val="C9C2C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Развитие точности и синхронности</a:t>
            </a:r>
            <a:endParaRPr lang="en-US" sz="1600" dirty="0"/>
          </a:p>
        </p:txBody>
      </p:sp>
      <p:sp>
        <p:nvSpPr>
          <p:cNvPr id="12" name="Shape 9"/>
          <p:cNvSpPr/>
          <p:nvPr/>
        </p:nvSpPr>
        <p:spPr>
          <a:xfrm>
            <a:off x="5185053" y="6468070"/>
            <a:ext cx="4260294" cy="1184077"/>
          </a:xfrm>
          <a:prstGeom prst="roundRect">
            <a:avLst>
              <a:gd name="adj" fmla="val 2603"/>
            </a:avLst>
          </a:prstGeom>
          <a:solidFill>
            <a:srgbClr val="373433"/>
          </a:solidFill>
          <a:ln/>
        </p:spPr>
      </p:sp>
      <p:sp>
        <p:nvSpPr>
          <p:cNvPr id="13" name="Text 10"/>
          <p:cNvSpPr/>
          <p:nvPr/>
        </p:nvSpPr>
        <p:spPr>
          <a:xfrm>
            <a:off x="5390555" y="6673572"/>
            <a:ext cx="2568893" cy="3211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2000" dirty="0">
                <a:solidFill>
                  <a:srgbClr val="C9C2C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Тренировка зрения</a:t>
            </a:r>
            <a:endParaRPr lang="en-US" sz="2000" dirty="0"/>
          </a:p>
        </p:txBody>
      </p:sp>
      <p:sp>
        <p:nvSpPr>
          <p:cNvPr id="14" name="Text 11"/>
          <p:cNvSpPr/>
          <p:nvPr/>
        </p:nvSpPr>
        <p:spPr>
          <a:xfrm>
            <a:off x="5390555" y="7117913"/>
            <a:ext cx="3849291" cy="3287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50"/>
              </a:lnSpc>
              <a:buNone/>
            </a:pPr>
            <a:r>
              <a:rPr lang="en-US" sz="1600" dirty="0">
                <a:solidFill>
                  <a:srgbClr val="C9C2C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Улучшение фокусировки взгляда</a:t>
            </a:r>
            <a:endParaRPr lang="en-US" sz="1600" dirty="0"/>
          </a:p>
        </p:txBody>
      </p:sp>
      <p:sp>
        <p:nvSpPr>
          <p:cNvPr id="15" name="Shape 12"/>
          <p:cNvSpPr/>
          <p:nvPr/>
        </p:nvSpPr>
        <p:spPr>
          <a:xfrm>
            <a:off x="9650849" y="6468070"/>
            <a:ext cx="4260294" cy="1184077"/>
          </a:xfrm>
          <a:prstGeom prst="roundRect">
            <a:avLst>
              <a:gd name="adj" fmla="val 2603"/>
            </a:avLst>
          </a:prstGeom>
          <a:solidFill>
            <a:srgbClr val="373433"/>
          </a:solidFill>
          <a:ln/>
        </p:spPr>
      </p:sp>
      <p:sp>
        <p:nvSpPr>
          <p:cNvPr id="16" name="Text 13"/>
          <p:cNvSpPr/>
          <p:nvPr/>
        </p:nvSpPr>
        <p:spPr>
          <a:xfrm>
            <a:off x="9856351" y="6673572"/>
            <a:ext cx="2568893" cy="3211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2000" dirty="0">
                <a:solidFill>
                  <a:srgbClr val="C9C2C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Развитие реакции</a:t>
            </a:r>
            <a:endParaRPr lang="en-US" sz="2000" dirty="0"/>
          </a:p>
        </p:txBody>
      </p:sp>
      <p:sp>
        <p:nvSpPr>
          <p:cNvPr id="17" name="Text 14"/>
          <p:cNvSpPr/>
          <p:nvPr/>
        </p:nvSpPr>
        <p:spPr>
          <a:xfrm>
            <a:off x="9856351" y="7117913"/>
            <a:ext cx="3849291" cy="3287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50"/>
              </a:lnSpc>
              <a:buNone/>
            </a:pPr>
            <a:r>
              <a:rPr lang="en-US" sz="1600" dirty="0">
                <a:solidFill>
                  <a:srgbClr val="C9C2C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Повышение скорости отклика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56642" y="914876"/>
            <a:ext cx="7264837" cy="6418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050"/>
              </a:lnSpc>
              <a:buNone/>
            </a:pPr>
            <a:r>
              <a:rPr lang="en-US" sz="4000" dirty="0">
                <a:solidFill>
                  <a:srgbClr val="D8B6A4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Польза настольного тенниса</a:t>
            </a:r>
            <a:endParaRPr lang="en-US" sz="4000" dirty="0"/>
          </a:p>
        </p:txBody>
      </p:sp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6642" y="1864757"/>
            <a:ext cx="513398" cy="513398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756642" y="2634853"/>
            <a:ext cx="3555921" cy="3208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2000" dirty="0">
                <a:solidFill>
                  <a:srgbClr val="C9C2C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Кардиоваскулярная система</a:t>
            </a:r>
            <a:endParaRPr lang="en-US" sz="2000" dirty="0"/>
          </a:p>
        </p:txBody>
      </p:sp>
      <p:sp>
        <p:nvSpPr>
          <p:cNvPr id="6" name="Text 2"/>
          <p:cNvSpPr/>
          <p:nvPr/>
        </p:nvSpPr>
        <p:spPr>
          <a:xfrm>
            <a:off x="756642" y="3078956"/>
            <a:ext cx="7630716" cy="3286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50"/>
              </a:lnSpc>
              <a:buNone/>
            </a:pPr>
            <a:r>
              <a:rPr lang="en-US" sz="1600" dirty="0">
                <a:solidFill>
                  <a:srgbClr val="C9C2C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Укрепление сердца и сосудов, улучшение кровообращения</a:t>
            </a:r>
            <a:endParaRPr lang="en-US" sz="1600" dirty="0"/>
          </a:p>
        </p:txBody>
      </p:sp>
      <p:pic>
        <p:nvPicPr>
          <p:cNvPr id="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6642" y="3818334"/>
            <a:ext cx="513398" cy="513398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756642" y="4588431"/>
            <a:ext cx="2838807" cy="3208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2000" dirty="0">
                <a:solidFill>
                  <a:srgbClr val="C9C2C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Когнитивные функции</a:t>
            </a:r>
            <a:endParaRPr lang="en-US" sz="2000" dirty="0"/>
          </a:p>
        </p:txBody>
      </p:sp>
      <p:sp>
        <p:nvSpPr>
          <p:cNvPr id="9" name="Text 4"/>
          <p:cNvSpPr/>
          <p:nvPr/>
        </p:nvSpPr>
        <p:spPr>
          <a:xfrm>
            <a:off x="756642" y="5032534"/>
            <a:ext cx="7630716" cy="3286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50"/>
              </a:lnSpc>
              <a:buNone/>
            </a:pPr>
            <a:r>
              <a:rPr lang="en-US" sz="1600" dirty="0">
                <a:solidFill>
                  <a:srgbClr val="C9C2C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Развитие концентрации, стратегического мышления и памяти</a:t>
            </a:r>
            <a:endParaRPr lang="en-US" sz="1600" dirty="0"/>
          </a:p>
        </p:txBody>
      </p:sp>
      <p:pic>
        <p:nvPicPr>
          <p:cNvPr id="1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6642" y="5771912"/>
            <a:ext cx="513398" cy="513398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756642" y="6542008"/>
            <a:ext cx="2567464" cy="3208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2000" dirty="0">
                <a:solidFill>
                  <a:srgbClr val="C9C2C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Зрительная система</a:t>
            </a:r>
            <a:endParaRPr lang="en-US" sz="2000" dirty="0"/>
          </a:p>
        </p:txBody>
      </p:sp>
      <p:sp>
        <p:nvSpPr>
          <p:cNvPr id="12" name="Text 6"/>
          <p:cNvSpPr/>
          <p:nvPr/>
        </p:nvSpPr>
        <p:spPr>
          <a:xfrm>
            <a:off x="756642" y="6986111"/>
            <a:ext cx="7630716" cy="3286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50"/>
              </a:lnSpc>
              <a:buNone/>
            </a:pPr>
            <a:r>
              <a:rPr lang="en-US" sz="1600" dirty="0">
                <a:solidFill>
                  <a:srgbClr val="C9C2C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Тренировка глазных мышц, улучшение периферийного зрения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953572"/>
            <a:ext cx="7556421" cy="1417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dirty="0">
                <a:solidFill>
                  <a:srgbClr val="D8B6A4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Физические преимущества</a:t>
            </a:r>
            <a:endParaRPr lang="en-US" sz="4450" dirty="0"/>
          </a:p>
        </p:txBody>
      </p:sp>
      <p:sp>
        <p:nvSpPr>
          <p:cNvPr id="4" name="Text 1"/>
          <p:cNvSpPr/>
          <p:nvPr/>
        </p:nvSpPr>
        <p:spPr>
          <a:xfrm>
            <a:off x="793790" y="2938105"/>
            <a:ext cx="3501509" cy="8505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300"/>
              </a:lnSpc>
              <a:buNone/>
            </a:pPr>
            <a:r>
              <a:rPr lang="en-US" sz="2650" dirty="0">
                <a:solidFill>
                  <a:srgbClr val="D8B6A4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Развитие выносливости</a:t>
            </a:r>
            <a:endParaRPr lang="en-US" sz="2650" dirty="0"/>
          </a:p>
        </p:txBody>
      </p:sp>
      <p:sp>
        <p:nvSpPr>
          <p:cNvPr id="5" name="Text 2"/>
          <p:cNvSpPr/>
          <p:nvPr/>
        </p:nvSpPr>
        <p:spPr>
          <a:xfrm>
            <a:off x="793790" y="4015502"/>
            <a:ext cx="3501509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C9C2C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Интенсивные движения улучшают аэробную и анаэробную выносливость организма</a:t>
            </a:r>
            <a:endParaRPr lang="en-US" sz="1750" dirty="0"/>
          </a:p>
        </p:txBody>
      </p:sp>
      <p:sp>
        <p:nvSpPr>
          <p:cNvPr id="6" name="Text 3"/>
          <p:cNvSpPr/>
          <p:nvPr/>
        </p:nvSpPr>
        <p:spPr>
          <a:xfrm>
            <a:off x="793790" y="5693926"/>
            <a:ext cx="3402330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300"/>
              </a:lnSpc>
              <a:buNone/>
            </a:pPr>
            <a:r>
              <a:rPr lang="en-US" sz="2650" dirty="0">
                <a:solidFill>
                  <a:srgbClr val="D8B6A4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Укрепление мышц</a:t>
            </a:r>
            <a:endParaRPr lang="en-US" sz="2650" dirty="0"/>
          </a:p>
        </p:txBody>
      </p:sp>
      <p:sp>
        <p:nvSpPr>
          <p:cNvPr id="7" name="Text 4"/>
          <p:cNvSpPr/>
          <p:nvPr/>
        </p:nvSpPr>
        <p:spPr>
          <a:xfrm>
            <a:off x="793790" y="6346031"/>
            <a:ext cx="3501509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C9C2C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Задействуются мышцы рук, ног, корпуса и стабилизаторы</a:t>
            </a:r>
            <a:endParaRPr lang="en-US" sz="1750" dirty="0"/>
          </a:p>
        </p:txBody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56321" y="2966442"/>
            <a:ext cx="3501509" cy="3501509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1085493"/>
            <a:ext cx="7247573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dirty="0">
                <a:solidFill>
                  <a:srgbClr val="D8B6A4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Психологические аспекты</a:t>
            </a:r>
            <a:endParaRPr lang="en-US" sz="4450" dirty="0"/>
          </a:p>
        </p:txBody>
      </p:sp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3790" y="2134433"/>
            <a:ext cx="1134070" cy="1669852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2154674" y="2361248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C9C2C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Снятие стресса</a:t>
            </a:r>
            <a:endParaRPr lang="en-US" sz="2200" dirty="0"/>
          </a:p>
        </p:txBody>
      </p:sp>
      <p:sp>
        <p:nvSpPr>
          <p:cNvPr id="6" name="Text 2"/>
          <p:cNvSpPr/>
          <p:nvPr/>
        </p:nvSpPr>
        <p:spPr>
          <a:xfrm>
            <a:off x="2154674" y="2851666"/>
            <a:ext cx="6195536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C9C2C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Физическая активность способствует выработке эндорфинов</a:t>
            </a:r>
            <a:endParaRPr lang="en-US" sz="1750" dirty="0"/>
          </a:p>
        </p:txBody>
      </p:sp>
      <p:pic>
        <p:nvPicPr>
          <p:cNvPr id="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3790" y="3804285"/>
            <a:ext cx="1134070" cy="1669852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2154674" y="4031099"/>
            <a:ext cx="348936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C9C2C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Концентрация внимания</a:t>
            </a:r>
            <a:endParaRPr lang="en-US" sz="2200" dirty="0"/>
          </a:p>
        </p:txBody>
      </p:sp>
      <p:sp>
        <p:nvSpPr>
          <p:cNvPr id="9" name="Text 4"/>
          <p:cNvSpPr/>
          <p:nvPr/>
        </p:nvSpPr>
        <p:spPr>
          <a:xfrm>
            <a:off x="2154674" y="4521517"/>
            <a:ext cx="6195536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C9C2C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Необходимость следить за мячом развивает способность к фокусировке</a:t>
            </a:r>
            <a:endParaRPr lang="en-US" sz="1750" dirty="0"/>
          </a:p>
        </p:txBody>
      </p:sp>
      <p:pic>
        <p:nvPicPr>
          <p:cNvPr id="1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3790" y="5474137"/>
            <a:ext cx="1134070" cy="1669852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2154674" y="5700951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C9C2C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Уверенность в себе</a:t>
            </a:r>
            <a:endParaRPr lang="en-US" sz="2200" dirty="0"/>
          </a:p>
        </p:txBody>
      </p:sp>
      <p:sp>
        <p:nvSpPr>
          <p:cNvPr id="12" name="Text 6"/>
          <p:cNvSpPr/>
          <p:nvPr/>
        </p:nvSpPr>
        <p:spPr>
          <a:xfrm>
            <a:off x="2154674" y="6191369"/>
            <a:ext cx="6195536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C9C2C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Достижения в игре повышают самооценку и мотивацию</a:t>
            </a:r>
            <a:endParaRPr lang="en-US" sz="17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80190" y="626864"/>
            <a:ext cx="5955625" cy="6734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300"/>
              </a:lnSpc>
              <a:buNone/>
            </a:pPr>
            <a:r>
              <a:rPr lang="en-US" sz="4200" dirty="0">
                <a:solidFill>
                  <a:srgbClr val="D8B6A4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Потенциальные риски</a:t>
            </a:r>
            <a:endParaRPr lang="en-US" sz="4200" dirty="0"/>
          </a:p>
        </p:txBody>
      </p:sp>
      <p:sp>
        <p:nvSpPr>
          <p:cNvPr id="4" name="Shape 1"/>
          <p:cNvSpPr/>
          <p:nvPr/>
        </p:nvSpPr>
        <p:spPr>
          <a:xfrm>
            <a:off x="6280190" y="1623417"/>
            <a:ext cx="3670459" cy="3222665"/>
          </a:xfrm>
          <a:prstGeom prst="roundRect">
            <a:avLst>
              <a:gd name="adj" fmla="val 4540"/>
            </a:avLst>
          </a:prstGeom>
          <a:solidFill>
            <a:srgbClr val="464342"/>
          </a:solidFill>
          <a:ln w="30480">
            <a:solidFill>
              <a:srgbClr val="504D4C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6249710" y="1623417"/>
            <a:ext cx="121920" cy="3222665"/>
          </a:xfrm>
          <a:prstGeom prst="roundRect">
            <a:avLst>
              <a:gd name="adj" fmla="val 26512"/>
            </a:avLst>
          </a:prstGeom>
          <a:solidFill>
            <a:srgbClr val="C49F8C"/>
          </a:solidFill>
          <a:ln/>
        </p:spPr>
      </p:sp>
      <p:sp>
        <p:nvSpPr>
          <p:cNvPr id="6" name="Text 3"/>
          <p:cNvSpPr/>
          <p:nvPr/>
        </p:nvSpPr>
        <p:spPr>
          <a:xfrm>
            <a:off x="6617494" y="1869281"/>
            <a:ext cx="2693551" cy="3365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50"/>
              </a:lnSpc>
              <a:buNone/>
            </a:pPr>
            <a:r>
              <a:rPr lang="en-US" sz="2100" dirty="0">
                <a:solidFill>
                  <a:srgbClr val="C9C2C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Травмы суставов</a:t>
            </a:r>
            <a:endParaRPr lang="en-US" sz="2100" dirty="0"/>
          </a:p>
        </p:txBody>
      </p:sp>
      <p:sp>
        <p:nvSpPr>
          <p:cNvPr id="7" name="Text 4"/>
          <p:cNvSpPr/>
          <p:nvPr/>
        </p:nvSpPr>
        <p:spPr>
          <a:xfrm>
            <a:off x="6617494" y="2335054"/>
            <a:ext cx="3087291" cy="10344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1650" dirty="0">
                <a:solidFill>
                  <a:srgbClr val="C9C2C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Чрезмерные нагрузки на локтевой, плечевой и коленный суставы</a:t>
            </a:r>
            <a:endParaRPr lang="en-US" sz="1650" dirty="0"/>
          </a:p>
        </p:txBody>
      </p:sp>
      <p:sp>
        <p:nvSpPr>
          <p:cNvPr id="8" name="Text 5"/>
          <p:cNvSpPr/>
          <p:nvPr/>
        </p:nvSpPr>
        <p:spPr>
          <a:xfrm>
            <a:off x="6617494" y="3498652"/>
            <a:ext cx="3087291" cy="3448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700"/>
              </a:lnSpc>
              <a:buSzPct val="100000"/>
              <a:buChar char="•"/>
            </a:pPr>
            <a:r>
              <a:rPr lang="en-US" sz="1650" dirty="0">
                <a:solidFill>
                  <a:srgbClr val="C9C2C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Теннисный локоть</a:t>
            </a:r>
            <a:endParaRPr lang="en-US" sz="1650" dirty="0"/>
          </a:p>
        </p:txBody>
      </p:sp>
      <p:sp>
        <p:nvSpPr>
          <p:cNvPr id="9" name="Text 6"/>
          <p:cNvSpPr/>
          <p:nvPr/>
        </p:nvSpPr>
        <p:spPr>
          <a:xfrm>
            <a:off x="6617494" y="3918823"/>
            <a:ext cx="3087291" cy="3448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700"/>
              </a:lnSpc>
              <a:buSzPct val="100000"/>
              <a:buChar char="•"/>
            </a:pPr>
            <a:r>
              <a:rPr lang="en-US" sz="1650" dirty="0">
                <a:solidFill>
                  <a:srgbClr val="C9C2C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Растяжения связок</a:t>
            </a:r>
            <a:endParaRPr lang="en-US" sz="1650" dirty="0"/>
          </a:p>
        </p:txBody>
      </p:sp>
      <p:sp>
        <p:nvSpPr>
          <p:cNvPr id="10" name="Shape 7"/>
          <p:cNvSpPr/>
          <p:nvPr/>
        </p:nvSpPr>
        <p:spPr>
          <a:xfrm>
            <a:off x="10166033" y="1623417"/>
            <a:ext cx="3670578" cy="3222665"/>
          </a:xfrm>
          <a:prstGeom prst="roundRect">
            <a:avLst>
              <a:gd name="adj" fmla="val 4540"/>
            </a:avLst>
          </a:prstGeom>
          <a:solidFill>
            <a:srgbClr val="464342"/>
          </a:solidFill>
          <a:ln w="30480">
            <a:solidFill>
              <a:srgbClr val="504D4C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10135553" y="1623417"/>
            <a:ext cx="121920" cy="3222665"/>
          </a:xfrm>
          <a:prstGeom prst="roundRect">
            <a:avLst>
              <a:gd name="adj" fmla="val 26512"/>
            </a:avLst>
          </a:prstGeom>
          <a:solidFill>
            <a:srgbClr val="C49F8C"/>
          </a:solidFill>
          <a:ln/>
        </p:spPr>
      </p:sp>
      <p:sp>
        <p:nvSpPr>
          <p:cNvPr id="12" name="Text 9"/>
          <p:cNvSpPr/>
          <p:nvPr/>
        </p:nvSpPr>
        <p:spPr>
          <a:xfrm>
            <a:off x="10503337" y="1869281"/>
            <a:ext cx="3087410" cy="6731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50"/>
              </a:lnSpc>
              <a:buNone/>
            </a:pPr>
            <a:r>
              <a:rPr lang="en-US" sz="2100" dirty="0">
                <a:solidFill>
                  <a:srgbClr val="C9C2C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Мышечное перенапряжение</a:t>
            </a:r>
            <a:endParaRPr lang="en-US" sz="2100" dirty="0"/>
          </a:p>
        </p:txBody>
      </p:sp>
      <p:sp>
        <p:nvSpPr>
          <p:cNvPr id="13" name="Text 10"/>
          <p:cNvSpPr/>
          <p:nvPr/>
        </p:nvSpPr>
        <p:spPr>
          <a:xfrm>
            <a:off x="10503337" y="2671643"/>
            <a:ext cx="3087410" cy="10344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1650" dirty="0">
                <a:solidFill>
                  <a:srgbClr val="C9C2C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Односторонние нагрузки могут привести к мышечному дисбалансу</a:t>
            </a:r>
            <a:endParaRPr lang="en-US" sz="1650" dirty="0"/>
          </a:p>
        </p:txBody>
      </p:sp>
      <p:sp>
        <p:nvSpPr>
          <p:cNvPr id="14" name="Text 11"/>
          <p:cNvSpPr/>
          <p:nvPr/>
        </p:nvSpPr>
        <p:spPr>
          <a:xfrm>
            <a:off x="10503337" y="3835241"/>
            <a:ext cx="3087410" cy="3448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700"/>
              </a:lnSpc>
              <a:buSzPct val="100000"/>
              <a:buChar char="•"/>
            </a:pPr>
            <a:r>
              <a:rPr lang="en-US" sz="1650" dirty="0">
                <a:solidFill>
                  <a:srgbClr val="C9C2C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Спазмы мышц</a:t>
            </a:r>
            <a:endParaRPr lang="en-US" sz="1650" dirty="0"/>
          </a:p>
        </p:txBody>
      </p:sp>
      <p:sp>
        <p:nvSpPr>
          <p:cNvPr id="15" name="Text 12"/>
          <p:cNvSpPr/>
          <p:nvPr/>
        </p:nvSpPr>
        <p:spPr>
          <a:xfrm>
            <a:off x="10503337" y="4255413"/>
            <a:ext cx="3087410" cy="3448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700"/>
              </a:lnSpc>
              <a:buSzPct val="100000"/>
              <a:buChar char="•"/>
            </a:pPr>
            <a:r>
              <a:rPr lang="en-US" sz="1650" dirty="0">
                <a:solidFill>
                  <a:srgbClr val="C9C2C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Асимметрия развития</a:t>
            </a:r>
            <a:endParaRPr lang="en-US" sz="1650" dirty="0"/>
          </a:p>
        </p:txBody>
      </p:sp>
      <p:sp>
        <p:nvSpPr>
          <p:cNvPr id="16" name="Shape 13"/>
          <p:cNvSpPr/>
          <p:nvPr/>
        </p:nvSpPr>
        <p:spPr>
          <a:xfrm>
            <a:off x="6280190" y="5061466"/>
            <a:ext cx="3670459" cy="2541270"/>
          </a:xfrm>
          <a:prstGeom prst="roundRect">
            <a:avLst>
              <a:gd name="adj" fmla="val 5757"/>
            </a:avLst>
          </a:prstGeom>
          <a:solidFill>
            <a:srgbClr val="464342"/>
          </a:solidFill>
          <a:ln w="30480">
            <a:solidFill>
              <a:srgbClr val="504D4C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6249710" y="5061466"/>
            <a:ext cx="121920" cy="2541270"/>
          </a:xfrm>
          <a:prstGeom prst="roundRect">
            <a:avLst>
              <a:gd name="adj" fmla="val 26512"/>
            </a:avLst>
          </a:prstGeom>
          <a:solidFill>
            <a:srgbClr val="C49F8C"/>
          </a:solidFill>
          <a:ln/>
        </p:spPr>
      </p:sp>
      <p:sp>
        <p:nvSpPr>
          <p:cNvPr id="18" name="Text 15"/>
          <p:cNvSpPr/>
          <p:nvPr/>
        </p:nvSpPr>
        <p:spPr>
          <a:xfrm>
            <a:off x="6617494" y="5307330"/>
            <a:ext cx="3050738" cy="3365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50"/>
              </a:lnSpc>
              <a:buNone/>
            </a:pPr>
            <a:r>
              <a:rPr lang="en-US" sz="2100" dirty="0">
                <a:solidFill>
                  <a:srgbClr val="C9C2C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Зрительное утомление</a:t>
            </a:r>
            <a:endParaRPr lang="en-US" sz="2100" dirty="0"/>
          </a:p>
        </p:txBody>
      </p:sp>
      <p:sp>
        <p:nvSpPr>
          <p:cNvPr id="19" name="Text 16"/>
          <p:cNvSpPr/>
          <p:nvPr/>
        </p:nvSpPr>
        <p:spPr>
          <a:xfrm>
            <a:off x="6617494" y="5773103"/>
            <a:ext cx="3087291" cy="689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1650" dirty="0">
                <a:solidFill>
                  <a:srgbClr val="C9C2C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Длительное наблюдение за быстро движущимся мячом</a:t>
            </a:r>
            <a:endParaRPr lang="en-US" sz="1650" dirty="0"/>
          </a:p>
        </p:txBody>
      </p:sp>
      <p:sp>
        <p:nvSpPr>
          <p:cNvPr id="20" name="Text 17"/>
          <p:cNvSpPr/>
          <p:nvPr/>
        </p:nvSpPr>
        <p:spPr>
          <a:xfrm>
            <a:off x="6617494" y="6591895"/>
            <a:ext cx="3087291" cy="3448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700"/>
              </a:lnSpc>
              <a:buSzPct val="100000"/>
              <a:buChar char="•"/>
            </a:pPr>
            <a:r>
              <a:rPr lang="en-US" sz="1650" dirty="0">
                <a:solidFill>
                  <a:srgbClr val="C9C2C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Напряжение глаз</a:t>
            </a:r>
            <a:endParaRPr lang="en-US" sz="1650" dirty="0"/>
          </a:p>
        </p:txBody>
      </p:sp>
      <p:sp>
        <p:nvSpPr>
          <p:cNvPr id="21" name="Text 18"/>
          <p:cNvSpPr/>
          <p:nvPr/>
        </p:nvSpPr>
        <p:spPr>
          <a:xfrm>
            <a:off x="6617494" y="7012067"/>
            <a:ext cx="3087291" cy="3448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700"/>
              </a:lnSpc>
              <a:buSzPct val="100000"/>
              <a:buChar char="•"/>
            </a:pPr>
            <a:r>
              <a:rPr lang="en-US" sz="1650" dirty="0">
                <a:solidFill>
                  <a:srgbClr val="C9C2C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Головные боли</a:t>
            </a:r>
            <a:endParaRPr lang="en-US" sz="16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84384" y="728424"/>
            <a:ext cx="4328993" cy="5253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100"/>
              </a:lnSpc>
              <a:buNone/>
            </a:pPr>
            <a:r>
              <a:rPr lang="en-US" sz="3300" dirty="0">
                <a:solidFill>
                  <a:srgbClr val="D8B6A4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Профилактика травм</a:t>
            </a:r>
            <a:endParaRPr lang="en-US" sz="33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4384" y="1589842"/>
            <a:ext cx="9796224" cy="3252787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84384" y="5031700"/>
            <a:ext cx="167997" cy="21002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300" dirty="0">
                <a:solidFill>
                  <a:srgbClr val="C9C2C0"/>
                </a:solidFill>
                <a:latin typeface="Gelasio Light" pitchFamily="34" charset="0"/>
                <a:ea typeface="Gelasio Light" pitchFamily="34" charset="-122"/>
                <a:cs typeface="Gelasio Light" pitchFamily="34" charset="-120"/>
              </a:rPr>
              <a:t>01</a:t>
            </a:r>
            <a:endParaRPr lang="en-US" sz="1300" dirty="0"/>
          </a:p>
        </p:txBody>
      </p:sp>
      <p:sp>
        <p:nvSpPr>
          <p:cNvPr id="5" name="Shape 2"/>
          <p:cNvSpPr/>
          <p:nvPr/>
        </p:nvSpPr>
        <p:spPr>
          <a:xfrm>
            <a:off x="784384" y="5294352"/>
            <a:ext cx="4241840" cy="22860"/>
          </a:xfrm>
          <a:prstGeom prst="rect">
            <a:avLst/>
          </a:prstGeom>
          <a:solidFill>
            <a:srgbClr val="C49F8C"/>
          </a:solidFill>
          <a:ln/>
        </p:spPr>
      </p:sp>
      <p:sp>
        <p:nvSpPr>
          <p:cNvPr id="6" name="Text 3"/>
          <p:cNvSpPr/>
          <p:nvPr/>
        </p:nvSpPr>
        <p:spPr>
          <a:xfrm>
            <a:off x="784384" y="5424011"/>
            <a:ext cx="2305288" cy="2626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50"/>
              </a:lnSpc>
              <a:buNone/>
            </a:pPr>
            <a:r>
              <a:rPr lang="en-US" sz="1650" dirty="0">
                <a:solidFill>
                  <a:srgbClr val="C9C2C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Правильная разминка</a:t>
            </a:r>
            <a:endParaRPr lang="en-US" sz="1650" dirty="0"/>
          </a:p>
        </p:txBody>
      </p:sp>
      <p:sp>
        <p:nvSpPr>
          <p:cNvPr id="7" name="Text 4"/>
          <p:cNvSpPr/>
          <p:nvPr/>
        </p:nvSpPr>
        <p:spPr>
          <a:xfrm>
            <a:off x="784384" y="5787509"/>
            <a:ext cx="4241840" cy="2689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300" dirty="0">
                <a:solidFill>
                  <a:srgbClr val="C9C2C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Подготовка мышц и суставов перед тренировкой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5194221" y="5031700"/>
            <a:ext cx="167997" cy="21002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300" dirty="0">
                <a:solidFill>
                  <a:srgbClr val="C9C2C0"/>
                </a:solidFill>
                <a:latin typeface="Gelasio Light" pitchFamily="34" charset="0"/>
                <a:ea typeface="Gelasio Light" pitchFamily="34" charset="-122"/>
                <a:cs typeface="Gelasio Light" pitchFamily="34" charset="-120"/>
              </a:rPr>
              <a:t>02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5194221" y="5294352"/>
            <a:ext cx="4241840" cy="22860"/>
          </a:xfrm>
          <a:prstGeom prst="rect">
            <a:avLst/>
          </a:prstGeom>
          <a:solidFill>
            <a:srgbClr val="C49F8C"/>
          </a:solidFill>
          <a:ln/>
        </p:spPr>
      </p:sp>
      <p:sp>
        <p:nvSpPr>
          <p:cNvPr id="10" name="Text 7"/>
          <p:cNvSpPr/>
          <p:nvPr/>
        </p:nvSpPr>
        <p:spPr>
          <a:xfrm>
            <a:off x="5194221" y="5424011"/>
            <a:ext cx="2296358" cy="2626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50"/>
              </a:lnSpc>
              <a:buNone/>
            </a:pPr>
            <a:r>
              <a:rPr lang="en-US" sz="1650" dirty="0">
                <a:solidFill>
                  <a:srgbClr val="C9C2C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Техника безопасности</a:t>
            </a:r>
            <a:endParaRPr lang="en-US" sz="1650" dirty="0"/>
          </a:p>
        </p:txBody>
      </p:sp>
      <p:sp>
        <p:nvSpPr>
          <p:cNvPr id="11" name="Text 8"/>
          <p:cNvSpPr/>
          <p:nvPr/>
        </p:nvSpPr>
        <p:spPr>
          <a:xfrm>
            <a:off x="5194221" y="5787509"/>
            <a:ext cx="4241840" cy="2689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300" dirty="0">
                <a:solidFill>
                  <a:srgbClr val="C9C2C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Изучение правильной техники ударов и движений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9604058" y="5031700"/>
            <a:ext cx="167997" cy="21002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300" dirty="0">
                <a:solidFill>
                  <a:srgbClr val="C9C2C0"/>
                </a:solidFill>
                <a:latin typeface="Gelasio Light" pitchFamily="34" charset="0"/>
                <a:ea typeface="Gelasio Light" pitchFamily="34" charset="-122"/>
                <a:cs typeface="Gelasio Light" pitchFamily="34" charset="-120"/>
              </a:rPr>
              <a:t>03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9604058" y="5294352"/>
            <a:ext cx="4241959" cy="22860"/>
          </a:xfrm>
          <a:prstGeom prst="rect">
            <a:avLst/>
          </a:prstGeom>
          <a:solidFill>
            <a:srgbClr val="C49F8C"/>
          </a:solidFill>
          <a:ln/>
        </p:spPr>
      </p:sp>
      <p:sp>
        <p:nvSpPr>
          <p:cNvPr id="14" name="Text 11"/>
          <p:cNvSpPr/>
          <p:nvPr/>
        </p:nvSpPr>
        <p:spPr>
          <a:xfrm>
            <a:off x="9604058" y="5424011"/>
            <a:ext cx="2645331" cy="2626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50"/>
              </a:lnSpc>
              <a:buNone/>
            </a:pPr>
            <a:r>
              <a:rPr lang="en-US" sz="1650" dirty="0">
                <a:solidFill>
                  <a:srgbClr val="C9C2C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Качественный инвентарь</a:t>
            </a:r>
            <a:endParaRPr lang="en-US" sz="1650" dirty="0"/>
          </a:p>
        </p:txBody>
      </p:sp>
      <p:sp>
        <p:nvSpPr>
          <p:cNvPr id="15" name="Text 12"/>
          <p:cNvSpPr/>
          <p:nvPr/>
        </p:nvSpPr>
        <p:spPr>
          <a:xfrm>
            <a:off x="9604058" y="5787509"/>
            <a:ext cx="4241959" cy="2689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300" dirty="0">
                <a:solidFill>
                  <a:srgbClr val="C9C2C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Использование подходящих ракеток и обуви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784384" y="6350437"/>
            <a:ext cx="167997" cy="21002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300" dirty="0">
                <a:solidFill>
                  <a:srgbClr val="C9C2C0"/>
                </a:solidFill>
                <a:latin typeface="Gelasio Light" pitchFamily="34" charset="0"/>
                <a:ea typeface="Gelasio Light" pitchFamily="34" charset="-122"/>
                <a:cs typeface="Gelasio Light" pitchFamily="34" charset="-120"/>
              </a:rPr>
              <a:t>04</a:t>
            </a:r>
            <a:endParaRPr lang="en-US" sz="1300" dirty="0"/>
          </a:p>
        </p:txBody>
      </p:sp>
      <p:sp>
        <p:nvSpPr>
          <p:cNvPr id="17" name="Shape 14"/>
          <p:cNvSpPr/>
          <p:nvPr/>
        </p:nvSpPr>
        <p:spPr>
          <a:xfrm>
            <a:off x="784384" y="6613088"/>
            <a:ext cx="6446758" cy="22860"/>
          </a:xfrm>
          <a:prstGeom prst="rect">
            <a:avLst/>
          </a:prstGeom>
          <a:solidFill>
            <a:srgbClr val="C49F8C"/>
          </a:solidFill>
          <a:ln/>
        </p:spPr>
      </p:sp>
      <p:sp>
        <p:nvSpPr>
          <p:cNvPr id="18" name="Text 15"/>
          <p:cNvSpPr/>
          <p:nvPr/>
        </p:nvSpPr>
        <p:spPr>
          <a:xfrm>
            <a:off x="784384" y="6742748"/>
            <a:ext cx="2510433" cy="2626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50"/>
              </a:lnSpc>
              <a:buNone/>
            </a:pPr>
            <a:r>
              <a:rPr lang="en-US" sz="1650" dirty="0">
                <a:solidFill>
                  <a:srgbClr val="C9C2C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Дозированные нагрузки</a:t>
            </a:r>
            <a:endParaRPr lang="en-US" sz="1650" dirty="0"/>
          </a:p>
        </p:txBody>
      </p:sp>
      <p:sp>
        <p:nvSpPr>
          <p:cNvPr id="19" name="Text 16"/>
          <p:cNvSpPr/>
          <p:nvPr/>
        </p:nvSpPr>
        <p:spPr>
          <a:xfrm>
            <a:off x="784384" y="7106245"/>
            <a:ext cx="6446758" cy="2689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300" dirty="0">
                <a:solidFill>
                  <a:srgbClr val="C9C2C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Постепенное увеличение интенсивности тренировок</a:t>
            </a:r>
            <a:endParaRPr lang="en-US" sz="1300" dirty="0"/>
          </a:p>
        </p:txBody>
      </p:sp>
      <p:sp>
        <p:nvSpPr>
          <p:cNvPr id="20" name="Text 17"/>
          <p:cNvSpPr/>
          <p:nvPr/>
        </p:nvSpPr>
        <p:spPr>
          <a:xfrm>
            <a:off x="7399139" y="6350437"/>
            <a:ext cx="167997" cy="21002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300" dirty="0">
                <a:solidFill>
                  <a:srgbClr val="C9C2C0"/>
                </a:solidFill>
                <a:latin typeface="Gelasio Light" pitchFamily="34" charset="0"/>
                <a:ea typeface="Gelasio Light" pitchFamily="34" charset="-122"/>
                <a:cs typeface="Gelasio Light" pitchFamily="34" charset="-120"/>
              </a:rPr>
              <a:t>05</a:t>
            </a:r>
            <a:endParaRPr lang="en-US" sz="1300" dirty="0"/>
          </a:p>
        </p:txBody>
      </p:sp>
      <p:sp>
        <p:nvSpPr>
          <p:cNvPr id="21" name="Shape 18"/>
          <p:cNvSpPr/>
          <p:nvPr/>
        </p:nvSpPr>
        <p:spPr>
          <a:xfrm>
            <a:off x="7399139" y="6613088"/>
            <a:ext cx="6446877" cy="22860"/>
          </a:xfrm>
          <a:prstGeom prst="rect">
            <a:avLst/>
          </a:prstGeom>
          <a:solidFill>
            <a:srgbClr val="C49F8C"/>
          </a:solidFill>
          <a:ln/>
        </p:spPr>
      </p:sp>
      <p:sp>
        <p:nvSpPr>
          <p:cNvPr id="22" name="Text 19"/>
          <p:cNvSpPr/>
          <p:nvPr/>
        </p:nvSpPr>
        <p:spPr>
          <a:xfrm>
            <a:off x="7399139" y="6742748"/>
            <a:ext cx="2101215" cy="2626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50"/>
              </a:lnSpc>
              <a:buNone/>
            </a:pPr>
            <a:r>
              <a:rPr lang="en-US" sz="1650" dirty="0">
                <a:solidFill>
                  <a:srgbClr val="C9C2C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Восстановление</a:t>
            </a:r>
            <a:endParaRPr lang="en-US" sz="1650" dirty="0"/>
          </a:p>
        </p:txBody>
      </p:sp>
      <p:sp>
        <p:nvSpPr>
          <p:cNvPr id="23" name="Text 20"/>
          <p:cNvSpPr/>
          <p:nvPr/>
        </p:nvSpPr>
        <p:spPr>
          <a:xfrm>
            <a:off x="7399139" y="7106245"/>
            <a:ext cx="6446877" cy="2689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300" dirty="0">
                <a:solidFill>
                  <a:srgbClr val="C9C2C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Соблюдение режима отдыха между тренировками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89717" y="463272"/>
            <a:ext cx="3369945" cy="4211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300"/>
              </a:lnSpc>
              <a:buNone/>
            </a:pPr>
            <a:r>
              <a:rPr lang="en-US" sz="2650" dirty="0">
                <a:solidFill>
                  <a:srgbClr val="D8B6A4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Результаты опроса</a:t>
            </a:r>
            <a:endParaRPr lang="en-US" sz="2650" dirty="0"/>
          </a:p>
        </p:txBody>
      </p:sp>
      <p:sp>
        <p:nvSpPr>
          <p:cNvPr id="3" name="Text 1"/>
          <p:cNvSpPr/>
          <p:nvPr/>
        </p:nvSpPr>
        <p:spPr>
          <a:xfrm>
            <a:off x="589717" y="1207770"/>
            <a:ext cx="7938968" cy="4312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50"/>
              </a:lnSpc>
              <a:buNone/>
            </a:pPr>
            <a:r>
              <a:rPr lang="en-US" sz="1050" dirty="0">
                <a:solidFill>
                  <a:srgbClr val="C9C2C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Проведенный опрос показал, что </a:t>
            </a:r>
            <a:pPr algn="l" indent="0" marL="0">
              <a:lnSpc>
                <a:spcPts val="1650"/>
              </a:lnSpc>
              <a:buNone/>
            </a:pPr>
            <a:r>
              <a:rPr lang="en-US" sz="1050" b="1" dirty="0">
                <a:solidFill>
                  <a:srgbClr val="C49F8C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большинство опрошенных считают</a:t>
            </a:r>
            <a:pPr algn="l" indent="0" marL="0">
              <a:lnSpc>
                <a:spcPts val="1650"/>
              </a:lnSpc>
              <a:buNone/>
            </a:pPr>
            <a:r>
              <a:rPr lang="en-US" sz="1050" dirty="0">
                <a:solidFill>
                  <a:srgbClr val="C9C2C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 занятия настольным теннисом полезными для здоровья, развития координации движений и улучшения психологического состояния.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589717" y="1760220"/>
            <a:ext cx="7938968" cy="4312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50"/>
              </a:lnSpc>
              <a:buNone/>
            </a:pPr>
            <a:r>
              <a:rPr lang="en-US" sz="1050" dirty="0">
                <a:solidFill>
                  <a:srgbClr val="C9C2C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Тем не менее, небольшая часть респондентов высказывает опасения относительно возможности получения травм во время игры.</a:t>
            </a:r>
            <a:endParaRPr lang="en-US" sz="105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865156" y="1238131"/>
            <a:ext cx="4146352" cy="414635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3081218" y="6563797"/>
            <a:ext cx="1657945" cy="3369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650"/>
              </a:lnSpc>
              <a:buNone/>
            </a:pPr>
            <a:r>
              <a:rPr lang="en-US" sz="2650" dirty="0">
                <a:solidFill>
                  <a:srgbClr val="C9C2C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87%</a:t>
            </a:r>
            <a:endParaRPr lang="en-US" sz="2650" dirty="0"/>
          </a:p>
        </p:txBody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99291" y="5721310"/>
            <a:ext cx="2021919" cy="2021919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2876550" y="7911703"/>
            <a:ext cx="2067520" cy="2105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650"/>
              </a:lnSpc>
              <a:buNone/>
            </a:pPr>
            <a:r>
              <a:rPr lang="en-US" sz="1300" dirty="0">
                <a:solidFill>
                  <a:srgbClr val="C9C2C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Положительное влияние</a:t>
            </a:r>
            <a:endParaRPr lang="en-US" sz="1300" dirty="0"/>
          </a:p>
        </p:txBody>
      </p:sp>
      <p:sp>
        <p:nvSpPr>
          <p:cNvPr id="9" name="Text 5"/>
          <p:cNvSpPr/>
          <p:nvPr/>
        </p:nvSpPr>
        <p:spPr>
          <a:xfrm>
            <a:off x="589717" y="8203049"/>
            <a:ext cx="6641187" cy="2156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650"/>
              </a:lnSpc>
              <a:buNone/>
            </a:pPr>
            <a:r>
              <a:rPr lang="en-US" sz="1050" dirty="0">
                <a:solidFill>
                  <a:srgbClr val="C9C2C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на координацию и здоровье</a:t>
            </a:r>
            <a:endParaRPr lang="en-US" sz="1050" dirty="0"/>
          </a:p>
        </p:txBody>
      </p:sp>
      <p:sp>
        <p:nvSpPr>
          <p:cNvPr id="10" name="Text 6"/>
          <p:cNvSpPr/>
          <p:nvPr/>
        </p:nvSpPr>
        <p:spPr>
          <a:xfrm>
            <a:off x="9890998" y="6563797"/>
            <a:ext cx="1657945" cy="3369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650"/>
              </a:lnSpc>
              <a:buNone/>
            </a:pPr>
            <a:r>
              <a:rPr lang="en-US" sz="2650" dirty="0">
                <a:solidFill>
                  <a:srgbClr val="C9C2C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13%</a:t>
            </a:r>
            <a:endParaRPr lang="en-US" sz="2650" dirty="0"/>
          </a:p>
        </p:txBody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09071" y="5721310"/>
            <a:ext cx="2021919" cy="2021919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9877544" y="7911703"/>
            <a:ext cx="1684973" cy="2105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650"/>
              </a:lnSpc>
              <a:buNone/>
            </a:pPr>
            <a:r>
              <a:rPr lang="en-US" sz="1300" dirty="0">
                <a:solidFill>
                  <a:srgbClr val="C9C2C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Опасения о травмах</a:t>
            </a:r>
            <a:endParaRPr lang="en-US" sz="1300" dirty="0"/>
          </a:p>
        </p:txBody>
      </p:sp>
      <p:sp>
        <p:nvSpPr>
          <p:cNvPr id="13" name="Text 8"/>
          <p:cNvSpPr/>
          <p:nvPr/>
        </p:nvSpPr>
        <p:spPr>
          <a:xfrm>
            <a:off x="7399377" y="8203049"/>
            <a:ext cx="6641306" cy="2156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650"/>
              </a:lnSpc>
              <a:buNone/>
            </a:pPr>
            <a:r>
              <a:rPr lang="en-US" sz="1050" dirty="0">
                <a:solidFill>
                  <a:srgbClr val="C9C2C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требуют внимательности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790575"/>
            <a:ext cx="6972657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dirty="0">
                <a:solidFill>
                  <a:srgbClr val="D8B6A4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Выводы и рекомендации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1952982"/>
            <a:ext cx="1304282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C9C2C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Настольный теннис - это не только увлекательная игра, но и </a:t>
            </a:r>
            <a:pPr algn="l" indent="0" marL="0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C49F8C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отличная возможность улучшить здоровье</a:t>
            </a:r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C9C2C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 и развить различные навыки. Занятия полезны для физического и умственного развития, а также социализации.</a:t>
            </a:r>
            <a:endParaRPr lang="en-US" sz="175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597593" y="3079909"/>
            <a:ext cx="3626882" cy="2721888"/>
          </a:xfrm>
          <a:prstGeom prst="rect">
            <a:avLst/>
          </a:prstGeom>
        </p:spPr>
      </p:pic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05926" y="3079909"/>
            <a:ext cx="3626882" cy="2721888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1133951" y="6458069"/>
            <a:ext cx="12702659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C9C2C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Важно правильно сбалансировать тренировки и принять все необходимые меры безопасности. Не упускайте шанса попробовать этот спорт и насладиться его многочисленными преимуществами!</a:t>
            </a:r>
            <a:endParaRPr lang="en-US" sz="1750" dirty="0"/>
          </a:p>
        </p:txBody>
      </p:sp>
      <p:sp>
        <p:nvSpPr>
          <p:cNvPr id="7" name="Shape 3"/>
          <p:cNvSpPr/>
          <p:nvPr/>
        </p:nvSpPr>
        <p:spPr>
          <a:xfrm>
            <a:off x="793790" y="6202918"/>
            <a:ext cx="30480" cy="1236107"/>
          </a:xfrm>
          <a:prstGeom prst="rect">
            <a:avLst/>
          </a:prstGeom>
          <a:solidFill>
            <a:srgbClr val="C49F8C"/>
          </a:solidFill>
          <a:ln/>
        </p:spPr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80190" y="2164080"/>
            <a:ext cx="7556421" cy="28353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150"/>
              </a:lnSpc>
              <a:buNone/>
            </a:pPr>
            <a:r>
              <a:rPr lang="en-US" sz="8900" dirty="0">
                <a:solidFill>
                  <a:srgbClr val="D8B6A4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Спасибо за внимание!</a:t>
            </a:r>
            <a:endParaRPr lang="en-US" sz="8900" dirty="0"/>
          </a:p>
        </p:txBody>
      </p:sp>
      <p:sp>
        <p:nvSpPr>
          <p:cNvPr id="4" name="Text 1"/>
          <p:cNvSpPr/>
          <p:nvPr/>
        </p:nvSpPr>
        <p:spPr>
          <a:xfrm>
            <a:off x="6280190" y="5339596"/>
            <a:ext cx="755642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C9C2C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Начните свой путь в настольном теннисе уже сегодня и откройте для себя мир здоровья, координации и удовольствия от игры!</a:t>
            </a:r>
            <a:endParaRPr lang="en-US" sz="17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2025-09-29T07:53:14Z</dcterms:created>
  <dcterms:modified xsi:type="dcterms:W3CDTF">2025-09-29T07:53:14Z</dcterms:modified>
</cp:coreProperties>
</file>